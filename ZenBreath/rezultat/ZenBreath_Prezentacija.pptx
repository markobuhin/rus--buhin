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Dobar dan svima. Danas ćemo vam predstaviti naš projekt pod nazivom ZenBreath. Radi se o naprednom medicinsko-rehabilitacijskom uređaju koji koristi mikrokontroler ESP32 kako bi pacijentima s respiratornim poteškoćama omogućio vizualno vođene vježbe disanja kroz interaktivni koncept biofeedbacka.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Glavni problem s kojim se pacijenti susreću jest taj što nemaju objektivan uvid u to ispuštaju li zrak prejakim ili preslabim intenzitetom. Naš cilj bio je dizajnirati sustav koji prikuplja podatke s respiracijskog senzora, obrađuje ih matematičkim algoritmima u realnom vremenu i klijentu daje trenutne upute na ekranu.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Ovdje vidimo hardversku konfiguraciju našeg sustava. Kao mozak uređaja odabran je ESP32. Protok zraka emuliramo preko potenciometra spojenog na analogni pin 34. Za prikaz podataka koristimo OLED zaslon na I2C sabirnici s adresom 0x3C, dok je gumb za buđenje spojen na GPIO 14 koji pripada RTC domeni.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Kako bismo zadovoljili stroge uvjete rada u realnom vremenu, iskoristili smo dvojezgrenu arhitekturu ESP32. Mrežni poslužitelj izolirali smo na dretvu unutar Core 0, dok se mjerenje i crtanje na ekranu neometano odvijaju na Core 1. Time smo osigurali da klijentsko surfanje po web sučelju ne utječe na stabilnost uzorkovanja senzora.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Sustav konstantno prati stanje senzora. Ako je vrijednost protoka ispod praga od 8%, smatramo da korisnik ne puše i filtriramo šum. Čim pređe prag, aktivira se algoritam numeričke integracije koji svakih 100 milisekundi zbraja površinu ispod krivulje protoka, čime u hodu dobivamo ukupni volumen izdisaja u mililitrima.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Pacijent na OLED zaslonu vidi dinamičku grafiku. Njegov zadatak je puhati tako da drži bijelu kuglicu unutar označenog pravokutnika na ekranu. Sustav ga kroz tekstualne poruke aktivno usmjerava i obavještava treba li pojačati ili smanjiti intenzitet izdisaja kako bi vježba bila terapeutska.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 potrebe daljinskog praćenja, sustav podiže vlastitu Wi-Fi mrežu osiguranu lozinkom. Bilo koji uređaj s preglednikom može pristupiti kontrolnoj ploči. Koristili smo naprednu AJAX tehniku gdje klijentski JavaScript svakih 200 milisekundi povlači lagane CSV podatke s endpointa /data, što nam omogućuje brz odziv sučelja bez opterećenja procesora.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Ugradbeni sustavi moraju biti energetski učinkoviti. Ako uređaj stoji na stolu 30 sekundi bez detektiranog izdisaja, na ekranu se ispisuje poruka o gašenju i sustav odlazi u Deep Sleep mod. U tom stanju troši zanemarivu struju, a ponovno se budi trenutno na pritisak fizičkog gumba zahvaljujući RTC kontroleru koji jedini ostaje aktivan.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Sustav smo rigorozno testirali kroz tri scenarija. Potvrdili smo da mrežni napadi ne mogu srušiti mjerenje, da softverski filter uspješno odbija šum okoline te da ugrađeni algoritam ispravno klasificira snagu pluća nakon završetka testa i drži rezultate na ekranu točno 6 sekundi prije povratka u pripravnost.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 kraj možemo zaključiti da je projekt u potpunosti ostvario sve zadane ciljeve. Pokazali smo kako se optimizacijom koda i korištenjem naprednih mogućnosti ESP32 čipa može napraviti stabilan i pouzdan medicinski uređaj. Podijelili smo rad na komunikacijski i mjerni dio, što nam je omogućilo paralelni razvoj i uspješno spajanje svih komponenti u cjelinu. Hvala vam na pažnji, a sada smo otvoreni za sva vaša pitanja.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60152" cy="3657600"/>
          </a:xfrm>
          <a:prstGeom prst="rect">
            <a:avLst/>
          </a:prstGeom>
          <a:noFill/>
        </p:spPr>
        <p:txBody>
          <a:bodyPr wrap="square">
            <a:spAutoFit/>
          </a:bodyPr>
          <a:lstStyle/>
          <a:p>
            <a:pPr>
              <a:defRPr sz="5400" b="1">
                <a:solidFill>
                  <a:srgbClr val="38BDF8"/>
                </a:solidFill>
                <a:latin typeface="Arial"/>
              </a:defRPr>
            </a:pPr>
            <a:r>
              <a:t>ZenBreath</a:t>
            </a:r>
          </a:p>
          <a:p>
            <a:pPr>
              <a:spcBef>
                <a:spcPts val="1000"/>
              </a:spcBef>
              <a:defRPr sz="2400" b="1">
                <a:solidFill>
                  <a:srgbClr val="F8FAFC"/>
                </a:solidFill>
                <a:latin typeface="Arial"/>
              </a:defRPr>
            </a:pPr>
            <a:r>
              <a:t>RPG Biofeedback Spirometar za Respiratornu Rehabilitaciju</a:t>
            </a:r>
          </a:p>
          <a:p>
            <a:pPr>
              <a:spcBef>
                <a:spcPts val="1500"/>
              </a:spcBef>
              <a:defRPr sz="1800">
                <a:solidFill>
                  <a:srgbClr val="94A3B8"/>
                </a:solidFill>
                <a:latin typeface="Arial"/>
              </a:defRPr>
            </a:pPr>
            <a:r>
              <a:t>Implementacija dvojezgrenog IoT ugradbenog sustava u realnom vremenu na ESP32 platformi</a:t>
            </a:r>
          </a:p>
          <a:p>
            <a:br/>
            <a:pPr>
              <a:defRPr sz="1600">
                <a:solidFill>
                  <a:srgbClr val="F8FAFC"/>
                </a:solidFill>
                <a:latin typeface="Arial"/>
              </a:defRPr>
            </a:pPr>
            <a:r>
              <a:t>Autori: Jeff &amp; Partner</a:t>
            </a:r>
            <a:br/>
            <a:r>
              <a:t>Mentor: prof. vsruk</a:t>
            </a:r>
            <a:br/>
            <a:r>
              <a:t>Lipanj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Problem, Motivacija i Cilj Projekta</a:t>
            </a:r>
          </a:p>
        </p:txBody>
      </p:sp>
      <p:sp>
        <p:nvSpPr>
          <p:cNvPr id="4" name="TextBox 3"/>
          <p:cNvSpPr txBox="1"/>
          <p:nvPr/>
        </p:nvSpPr>
        <p:spPr>
          <a:xfrm>
            <a:off x="731520" y="1828800"/>
            <a:ext cx="5029200" cy="4114800"/>
          </a:xfrm>
          <a:prstGeom prst="rect">
            <a:avLst/>
          </a:prstGeom>
          <a:noFill/>
        </p:spPr>
        <p:txBody>
          <a:bodyPr wrap="square">
            <a:spAutoFit/>
          </a:bodyPr>
          <a:lstStyle/>
          <a:p>
            <a:pPr>
              <a:defRPr sz="2200" b="1">
                <a:solidFill>
                  <a:srgbClr val="4ADE80"/>
                </a:solidFill>
              </a:defRPr>
            </a:pPr>
            <a:r>
              <a:t>Respiratorna problematika u praksi:</a:t>
            </a:r>
          </a:p>
          <a:p>
            <a:pPr>
              <a:spcBef>
                <a:spcPts val="1200"/>
              </a:spcBef>
              <a:defRPr sz="1800">
                <a:solidFill>
                  <a:srgbClr val="F8FAFC"/>
                </a:solidFill>
              </a:defRPr>
            </a:pPr>
            <a:r>
              <a:t>• Pacijenti na plućnoj rehabilitaciji (post-COVID, astma, KOPB) moraju izvoditi dugotrajne, kontrolirane i ujednačene izdisaje.</a:t>
            </a:r>
          </a:p>
          <a:p>
            <a:pPr>
              <a:spcBef>
                <a:spcPts val="1200"/>
              </a:spcBef>
              <a:defRPr sz="1800">
                <a:solidFill>
                  <a:srgbClr val="F8FAFC"/>
                </a:solidFill>
              </a:defRPr>
            </a:pPr>
            <a:r>
              <a:t>• Nedostatak povratne informacije kod kućnog vježbanja dovodi do nepravilnog izvođenja i slabijih terapeutskih rezultata.</a:t>
            </a:r>
          </a:p>
        </p:txBody>
      </p:sp>
      <p:sp>
        <p:nvSpPr>
          <p:cNvPr id="5" name="TextBox 4"/>
          <p:cNvSpPr txBox="1"/>
          <p:nvPr/>
        </p:nvSpPr>
        <p:spPr>
          <a:xfrm>
            <a:off x="6400800" y="1828800"/>
            <a:ext cx="5029200" cy="4114800"/>
          </a:xfrm>
          <a:prstGeom prst="rect">
            <a:avLst/>
          </a:prstGeom>
          <a:noFill/>
        </p:spPr>
        <p:txBody>
          <a:bodyPr wrap="square">
            <a:spAutoFit/>
          </a:bodyPr>
          <a:lstStyle/>
          <a:p>
            <a:pPr>
              <a:defRPr sz="2200" b="1">
                <a:solidFill>
                  <a:srgbClr val="4ADE80"/>
                </a:solidFill>
              </a:defRPr>
            </a:pPr>
            <a:r>
              <a:t>Cilj sustava ZenBreath:</a:t>
            </a:r>
          </a:p>
          <a:p>
            <a:pPr>
              <a:spcBef>
                <a:spcPts val="1200"/>
              </a:spcBef>
              <a:defRPr sz="1800">
                <a:solidFill>
                  <a:srgbClr val="F8FAFC"/>
                </a:solidFill>
              </a:defRPr>
            </a:pPr>
            <a:r>
              <a:t>• Objektivno mjerenje trenutnog protoka zraka pomoću analognog senzora.</a:t>
            </a:r>
          </a:p>
          <a:p>
            <a:pPr>
              <a:spcBef>
                <a:spcPts val="1200"/>
              </a:spcBef>
              <a:defRPr sz="1800">
                <a:solidFill>
                  <a:srgbClr val="F8FAFC"/>
                </a:solidFill>
              </a:defRPr>
            </a:pPr>
            <a:r>
              <a:t>• Pretvaranje suhoparnih fizikalnih parametara u intuitivni grafički 'let' na zaslonu kroz elemente igre.</a:t>
            </a:r>
          </a:p>
          <a:p>
            <a:pPr>
              <a:spcBef>
                <a:spcPts val="1200"/>
              </a:spcBef>
              <a:defRPr sz="1800">
                <a:solidFill>
                  <a:srgbClr val="F8FAFC"/>
                </a:solidFill>
              </a:defRPr>
            </a:pPr>
            <a:r>
              <a:t>• Proračun Forsiranog vitalnog kapaciteta (FVC) na samom ugradbenom uređaju u realnom vremenu.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Hardverska Arhitektura i Shema Spajanja</a:t>
            </a:r>
          </a:p>
        </p:txBody>
      </p:sp>
      <p:sp>
        <p:nvSpPr>
          <p:cNvPr id="4" name="TextBox 3"/>
          <p:cNvSpPr txBox="1"/>
          <p:nvPr/>
        </p:nvSpPr>
        <p:spPr>
          <a:xfrm>
            <a:off x="731520" y="1828800"/>
            <a:ext cx="10725912" cy="4114800"/>
          </a:xfrm>
          <a:prstGeom prst="rect">
            <a:avLst/>
          </a:prstGeom>
          <a:noFill/>
        </p:spPr>
        <p:txBody>
          <a:bodyPr wrap="square">
            <a:spAutoFit/>
          </a:bodyPr>
          <a:lstStyle/>
          <a:p>
            <a:pPr>
              <a:defRPr sz="2200" b="1">
                <a:solidFill>
                  <a:srgbClr val="F8FAFC"/>
                </a:solidFill>
              </a:defRPr>
            </a:pPr>
            <a:r>
              <a:t>Ključne komponente i povezivanje na ESP32:</a:t>
            </a:r>
          </a:p>
          <a:p>
            <a:pPr>
              <a:spcBef>
                <a:spcPts val="1200"/>
              </a:spcBef>
              <a:defRPr sz="1800">
                <a:solidFill>
                  <a:srgbClr val="38BDF8"/>
                </a:solidFill>
              </a:defRPr>
            </a:pPr>
            <a:r>
              <a:t>• </a:t>
            </a:r>
            <a:r>
              <a:rPr b="1">
                <a:solidFill>
                  <a:srgbClr val="38BDF8"/>
                </a:solidFill>
              </a:rPr>
              <a:t>Senzor protoka (Potenciometar): </a:t>
            </a:r>
            <a:r>
              <a:rPr>
                <a:solidFill>
                  <a:srgbClr val="F8FAFC"/>
                </a:solidFill>
              </a:rPr>
              <a:t>Spojen na ADC1 (GPIO 34). Služi za emulaciju diferencijalnog tlaka zraka.</a:t>
            </a:r>
          </a:p>
          <a:p>
            <a:pPr>
              <a:spcBef>
                <a:spcPts val="1200"/>
              </a:spcBef>
              <a:defRPr sz="1800">
                <a:solidFill>
                  <a:srgbClr val="38BDF8"/>
                </a:solidFill>
              </a:defRPr>
            </a:pPr>
            <a:r>
              <a:t>• </a:t>
            </a:r>
            <a:r>
              <a:rPr b="1">
                <a:solidFill>
                  <a:srgbClr val="38BDF8"/>
                </a:solidFill>
              </a:rPr>
              <a:t>SSD1306 OLED zaslon (128x64 px): </a:t>
            </a:r>
            <a:r>
              <a:rPr>
                <a:solidFill>
                  <a:srgbClr val="F8FAFC"/>
                </a:solidFill>
              </a:rPr>
              <a:t>Spojen preko I2C sabirnice (SDA -&gt; GPIO 21, SCL -&gt; GPIO 22) na adresi 0x3C. Renderira biofeedback sučelje.</a:t>
            </a:r>
          </a:p>
          <a:p>
            <a:pPr>
              <a:spcBef>
                <a:spcPts val="1200"/>
              </a:spcBef>
              <a:defRPr sz="1800">
                <a:solidFill>
                  <a:srgbClr val="38BDF8"/>
                </a:solidFill>
              </a:defRPr>
            </a:pPr>
            <a:r>
              <a:t>• </a:t>
            </a:r>
            <a:r>
              <a:rPr b="1">
                <a:solidFill>
                  <a:srgbClr val="38BDF8"/>
                </a:solidFill>
              </a:rPr>
              <a:t>Wake-up Gumb: </a:t>
            </a:r>
            <a:r>
              <a:rPr>
                <a:solidFill>
                  <a:srgbClr val="F8FAFC"/>
                </a:solidFill>
              </a:rPr>
              <a:t>Spojen na GPIO 14 (RTC domena). Koristi interni pull-up otpornik za buđenje iz Deep Sleep moda.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Softverska Arhitektura i FreeRTOS Multithreading</a:t>
            </a:r>
          </a:p>
        </p:txBody>
      </p:sp>
      <p:sp>
        <p:nvSpPr>
          <p:cNvPr id="4" name="TextBox 3"/>
          <p:cNvSpPr txBox="1"/>
          <p:nvPr/>
        </p:nvSpPr>
        <p:spPr>
          <a:xfrm>
            <a:off x="731520" y="1828800"/>
            <a:ext cx="10725912" cy="4114800"/>
          </a:xfrm>
          <a:prstGeom prst="rect">
            <a:avLst/>
          </a:prstGeom>
          <a:noFill/>
        </p:spPr>
        <p:txBody>
          <a:bodyPr wrap="square">
            <a:spAutoFit/>
          </a:bodyPr>
          <a:lstStyle/>
          <a:p>
            <a:pPr>
              <a:defRPr sz="2200" b="1">
                <a:solidFill>
                  <a:srgbClr val="4ADE80"/>
                </a:solidFill>
              </a:defRPr>
            </a:pPr>
            <a:r>
              <a:t>Asimetrični Multitasking (AMP) za rad u realnom vremenu:</a:t>
            </a:r>
          </a:p>
          <a:p>
            <a:pPr>
              <a:spcBef>
                <a:spcPts val="1200"/>
              </a:spcBef>
              <a:defRPr sz="1800">
                <a:solidFill>
                  <a:srgbClr val="F8FAFC"/>
                </a:solidFill>
              </a:defRPr>
            </a:pPr>
            <a:r>
              <a:t>• Jezgra 1 (Core 1): Izvršava determinističku petlju loop(). Zadužena za uzorkovanje ADC-a fiksnom frekvencijom od 10 Hz, numeričku integraciju volumena daha i crtanje grafike.</a:t>
            </a:r>
          </a:p>
          <a:p>
            <a:pPr>
              <a:spcBef>
                <a:spcPts val="1200"/>
              </a:spcBef>
              <a:defRPr sz="1800">
                <a:solidFill>
                  <a:srgbClr val="F8FAFC"/>
                </a:solidFill>
              </a:defRPr>
            </a:pPr>
            <a:r>
              <a:t>• Jezgra 0 (Core 0): Izvršava asinkronu FreeRTOS dretvu TaskServer kreiranu preko xTaskCreatePinnedToCore(). Upravlja Wi-Fi stogom (SoftAP) i HTTP poslužiteljem.</a:t>
            </a:r>
          </a:p>
          <a:p>
            <a:pPr>
              <a:spcBef>
                <a:spcPts val="1200"/>
              </a:spcBef>
              <a:defRPr sz="1800">
                <a:solidFill>
                  <a:srgbClr val="F8FAFC"/>
                </a:solidFill>
              </a:defRPr>
            </a:pPr>
            <a:r>
              <a:t>• Inženjerska prednost: Potpuna izolacija kritičnih operacija. Intenzivan mrežni promet ili AJAX upiti s mobitela ne mogu usporiti niti uzrokovati gubitak uzoraka mjerenja daha na senzoru.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Algoritam Obrade Podataka i Numerička Integracija</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Kondicioniranje signala i filter šuma: Sirova ADC vrijednost (0–4095) se linearno skalira na postotni raspon (0–100%). Softverski prag od 8% (currentFlow &gt; 8) uspješno eliminira električni šum potenciometra.</a:t>
            </a:r>
          </a:p>
          <a:p>
            <a:pPr>
              <a:spcBef>
                <a:spcPts val="1200"/>
              </a:spcBef>
              <a:defRPr sz="1800">
                <a:solidFill>
                  <a:srgbClr val="F8FAFC"/>
                </a:solidFill>
              </a:defRPr>
            </a:pPr>
            <a:r>
              <a:t>• Proračun volumena (FVC): Volumen se računa diskretnom numeričkom integracijom u vremenu (Riemannova suma) unutar svakog koraka uzorkovanja od dt = 100 ms.</a:t>
            </a:r>
          </a:p>
          <a:p>
            <a:pPr>
              <a:spcBef>
                <a:spcPts val="1200"/>
              </a:spcBef>
              <a:defRPr sz="1800">
                <a:solidFill>
                  <a:srgbClr val="F8FAFC"/>
                </a:solidFill>
              </a:defRPr>
            </a:pPr>
            <a:r>
              <a:t>• Matematički model: dV = currentFlow * 0.1 * 4.5  (gdje koeficijent 4.5 predstavlja kalibracijski faktor pretvorbe protoka u mililitre).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Grafički Biofeedback Mehanizam (OLED)</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Dizajn 'ozbiljne igre': Na ekranu je iscrtana ciljana terapeutski optimalna zona (pravokutnik od 40% do 70% protoka).</a:t>
            </a:r>
          </a:p>
          <a:p>
            <a:pPr>
              <a:spcBef>
                <a:spcPts val="800"/>
              </a:spcBef>
              <a:defRPr sz="1800">
                <a:solidFill>
                  <a:srgbClr val="F8FAFC"/>
                </a:solidFill>
              </a:defRPr>
            </a:pPr>
            <a:r>
              <a:t>• Dinamički marker: Bijela kuglica se pomiče horizontalno duž ekrana ovisno o trenutnoj jačini daha pacijenta.</a:t>
            </a:r>
          </a:p>
          <a:p>
            <a:pPr>
              <a:spcBef>
                <a:spcPts val="800"/>
              </a:spcBef>
              <a:defRPr sz="1800">
                <a:solidFill>
                  <a:srgbClr val="F8FAFC"/>
                </a:solidFill>
              </a:defRPr>
            </a:pPr>
            <a:r>
              <a:t>• Tekstualno vođenje pacijenta u realnom vremenu:</a:t>
            </a:r>
          </a:p>
          <a:p>
            <a:pPr>
              <a:spcBef>
                <a:spcPts val="800"/>
              </a:spcBef>
              <a:defRPr sz="1800">
                <a:solidFill>
                  <a:srgbClr val="38BDF8"/>
                </a:solidFill>
              </a:defRPr>
            </a:pPr>
            <a:r>
              <a:t>  - Između 40% i 70% -&gt; 'STABILNO! Drži tako.' (Zelena/optimalna zona)</a:t>
            </a:r>
          </a:p>
          <a:p>
            <a:pPr>
              <a:spcBef>
                <a:spcPts val="800"/>
              </a:spcBef>
              <a:defRPr sz="1800">
                <a:solidFill>
                  <a:srgbClr val="38BDF8"/>
                </a:solidFill>
              </a:defRPr>
            </a:pPr>
            <a:r>
              <a:t>  - Ispod 40% -&gt; 'PRESLABO! Puhni jace.'</a:t>
            </a:r>
          </a:p>
          <a:p>
            <a:pPr>
              <a:spcBef>
                <a:spcPts val="800"/>
              </a:spcBef>
              <a:defRPr sz="1800">
                <a:solidFill>
                  <a:srgbClr val="38BDF8"/>
                </a:solidFill>
              </a:defRPr>
            </a:pPr>
            <a:r>
              <a:t>  - Iznad 70% -&gt; 'PREJAKO! Lakse malo.'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Mrežna Povezivost i Web Dashboard</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Samostalni Access Point (SoftAP): ESP32 podiže vlastitu Wi-Fi mrežu naziva 'ZenBreath-Spirometer' osiguranu WPA2 lozinkom.</a:t>
            </a:r>
          </a:p>
          <a:p>
            <a:pPr>
              <a:spcBef>
                <a:spcPts val="1200"/>
              </a:spcBef>
              <a:defRPr sz="1800">
                <a:solidFill>
                  <a:srgbClr val="F8FAFC"/>
                </a:solidFill>
              </a:defRPr>
            </a:pPr>
            <a:r>
              <a:t>• Ušteda memorije (PROGMEM): HTML, CSS i JavaScript kod su pohranjeni u flash memoriju mikrokontrolera kako se ne bi opterećivao RAM.</a:t>
            </a:r>
          </a:p>
          <a:p>
            <a:pPr>
              <a:spcBef>
                <a:spcPts val="1200"/>
              </a:spcBef>
              <a:defRPr sz="1800">
                <a:solidFill>
                  <a:srgbClr val="F8FAFC"/>
                </a:solidFill>
              </a:defRPr>
            </a:pPr>
            <a:r>
              <a:t>• Asinkrona AJAX / Fetch komunikacija: Klijentski preglednik svakih 200 ms šalje lagani HTTP GET zahtjev na endpoint /data.</a:t>
            </a:r>
          </a:p>
          <a:p>
            <a:pPr>
              <a:spcBef>
                <a:spcPts val="1200"/>
              </a:spcBef>
              <a:defRPr sz="1800">
                <a:solidFill>
                  <a:srgbClr val="F8FAFC"/>
                </a:solidFill>
              </a:defRPr>
            </a:pPr>
            <a:r>
              <a:t>• Format podataka: Server vraća optimizirani sirovi CSV string (currentFlow,maxFlow,totalVolume) koji se trenutno parsira na mobitelu i animira graf bez ponovnog učitavanja stranice.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Upravljanje Potrošnjom Energije (Deep Sleep)</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Inaktivnost: Ako unutar 30 sekundi protok zraka ne pređe prag (korisnik ne koristi uređaj), sustav gasi OLED zaslon radi sprječavanja burn-in efekta i štednje energije.</a:t>
            </a:r>
          </a:p>
          <a:p>
            <a:pPr>
              <a:spcBef>
                <a:spcPts val="1200"/>
              </a:spcBef>
              <a:defRPr sz="1800">
                <a:solidFill>
                  <a:srgbClr val="F8FAFC"/>
                </a:solidFill>
              </a:defRPr>
            </a:pPr>
            <a:r>
              <a:t>• Deep Sleep način rada: Mikrokontroler gasi procesorske jezgre i Wi-Fi primopredajnik, spuštajući potrošnju struje na kritični minimum (&lt; 15 uA).</a:t>
            </a:r>
          </a:p>
          <a:p>
            <a:pPr>
              <a:spcBef>
                <a:spcPts val="1200"/>
              </a:spcBef>
              <a:defRPr sz="1800">
                <a:solidFill>
                  <a:srgbClr val="F8FAFC"/>
                </a:solidFill>
              </a:defRPr>
            </a:pPr>
            <a:r>
              <a:t>• RTC Buđenje: Pomoću esp_sleep_enable_ext0_wakeup() definiran je vanjski prekid na GPIO 14. Pritisak fizičkog gumba trenutno ponovno pokreće i inicijalizira sustav.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Verifikacija, Testiranje i Evaluacija Rezultata</a:t>
            </a:r>
          </a:p>
        </p:txBody>
      </p:sp>
      <p:sp>
        <p:nvSpPr>
          <p:cNvPr id="4" name="TextBox 3"/>
          <p:cNvSpPr txBox="1"/>
          <p:nvPr/>
        </p:nvSpPr>
        <p:spPr>
          <a:xfrm>
            <a:off x="731520" y="1828800"/>
            <a:ext cx="10725912" cy="4114800"/>
          </a:xfrm>
          <a:prstGeom prst="rect">
            <a:avLst/>
          </a:prstGeom>
          <a:noFill/>
        </p:spPr>
        <p:txBody>
          <a:bodyPr wrap="square">
            <a:spAutoFit/>
          </a:bodyPr>
          <a:lstStyle/>
          <a:p>
            <a:pPr>
              <a:defRPr sz="1800">
                <a:solidFill>
                  <a:srgbClr val="F8FAFC"/>
                </a:solidFill>
              </a:defRPr>
            </a:pPr>
            <a:r>
              <a:t>• 1. Test robusnosti FreeRTOS-a: Simuliran agresivan nalet AJAX zahtjeva klijenta (50 Hz). Rezultat: Mjerna petlja na Core 1 zadržala je stabilnih i fiksnih 10 Hz uzorkovanja bez kašnjenja.</a:t>
            </a:r>
          </a:p>
          <a:p>
            <a:pPr>
              <a:spcBef>
                <a:spcPts val="800"/>
              </a:spcBef>
              <a:defRPr sz="1800">
                <a:solidFill>
                  <a:srgbClr val="F8FAFC"/>
                </a:solidFill>
              </a:defRPr>
            </a:pPr>
            <a:r>
              <a:t>• 2. Test filtriranja šuma: Unos fluktuacija analognog signala ispod 8%. Rezultat: Sustav uspješno ignorira šum okoline i ostaje u stanju pripravnosti.</a:t>
            </a:r>
          </a:p>
          <a:p>
            <a:pPr>
              <a:spcBef>
                <a:spcPts val="800"/>
              </a:spcBef>
              <a:defRPr sz="1800">
                <a:solidFill>
                  <a:srgbClr val="F8FAFC"/>
                </a:solidFill>
              </a:defRPr>
            </a:pPr>
            <a:r>
              <a:t>• 3. Dijagnostička evaluacija testa: Nakon završetka daha (pad protoka ispod 8% kroz 2s), sustav uspješno evaluira Forsirani vitalni kapacitet (FVC):</a:t>
            </a:r>
          </a:p>
          <a:p>
            <a:pPr>
              <a:spcBef>
                <a:spcPts val="800"/>
              </a:spcBef>
              <a:defRPr sz="1800">
                <a:solidFill>
                  <a:srgbClr val="4ADE80"/>
                </a:solidFill>
              </a:defRPr>
            </a:pPr>
            <a:r>
              <a:t>  - FVC &gt; 2000 mL -&gt; Prikaz na zaslonu: 'Status: IZVRSNO!'</a:t>
            </a:r>
          </a:p>
          <a:p>
            <a:pPr>
              <a:spcBef>
                <a:spcPts val="800"/>
              </a:spcBef>
              <a:defRPr sz="1800">
                <a:solidFill>
                  <a:srgbClr val="4ADE80"/>
                </a:solidFill>
              </a:defRPr>
            </a:pPr>
            <a:r>
              <a:t>  - FVC &lt;= 2000 mL -&gt; Prikaz na zaslonu: 'Status: Potrebna vjezba'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5912" cy="914400"/>
          </a:xfrm>
          <a:prstGeom prst="rect">
            <a:avLst/>
          </a:prstGeom>
          <a:noFill/>
        </p:spPr>
        <p:txBody>
          <a:bodyPr wrap="square">
            <a:spAutoFit/>
          </a:bodyPr>
          <a:lstStyle/>
          <a:p>
            <a:pPr>
              <a:defRPr sz="3600" b="1">
                <a:solidFill>
                  <a:srgbClr val="38BDF8"/>
                </a:solidFill>
                <a:latin typeface="Arial"/>
              </a:defRPr>
            </a:pPr>
            <a:r>
              <a:t>Zaključak i Podjela Rada u Timu</a:t>
            </a:r>
          </a:p>
        </p:txBody>
      </p:sp>
      <p:sp>
        <p:nvSpPr>
          <p:cNvPr id="4" name="TextBox 3"/>
          <p:cNvSpPr txBox="1"/>
          <p:nvPr/>
        </p:nvSpPr>
        <p:spPr>
          <a:xfrm>
            <a:off x="731520" y="1828800"/>
            <a:ext cx="5029200" cy="4114800"/>
          </a:xfrm>
          <a:prstGeom prst="rect">
            <a:avLst/>
          </a:prstGeom>
          <a:noFill/>
        </p:spPr>
        <p:txBody>
          <a:bodyPr wrap="square">
            <a:spAutoFit/>
          </a:bodyPr>
          <a:lstStyle/>
          <a:p>
            <a:pPr>
              <a:defRPr sz="2200" b="1">
                <a:solidFill>
                  <a:srgbClr val="38BDF8"/>
                </a:solidFill>
              </a:defRPr>
            </a:pPr>
            <a:r>
              <a:t>Tehnički zaključak:</a:t>
            </a:r>
          </a:p>
          <a:p>
            <a:pPr>
              <a:spcBef>
                <a:spcPts val="1200"/>
              </a:spcBef>
              <a:defRPr sz="1800">
                <a:solidFill>
                  <a:srgbClr val="F8FAFC"/>
                </a:solidFill>
              </a:defRPr>
            </a:pPr>
            <a:r>
              <a:t>• ZenBreath uspješno integrira napredne koncepte programiranja u realnom vremenu (FreeRTOS) s praktičnom medicinskom primjenom.</a:t>
            </a:r>
          </a:p>
          <a:p>
            <a:pPr>
              <a:spcBef>
                <a:spcPts val="1200"/>
              </a:spcBef>
              <a:defRPr sz="1800">
                <a:solidFill>
                  <a:srgbClr val="F8FAFC"/>
                </a:solidFill>
              </a:defRPr>
            </a:pPr>
            <a:r>
              <a:t>• Dokazano je da se primjenom ugradbenih tehnologija može postići visoka energetska učinkovitost uz istovremeno posluživanje web i grafičkih sučelja.</a:t>
            </a:r>
          </a:p>
        </p:txBody>
      </p:sp>
      <p:sp>
        <p:nvSpPr>
          <p:cNvPr id="5" name="TextBox 4"/>
          <p:cNvSpPr txBox="1"/>
          <p:nvPr/>
        </p:nvSpPr>
        <p:spPr>
          <a:xfrm>
            <a:off x="6400800" y="1828800"/>
            <a:ext cx="5029200" cy="4114800"/>
          </a:xfrm>
          <a:prstGeom prst="rect">
            <a:avLst/>
          </a:prstGeom>
          <a:noFill/>
        </p:spPr>
        <p:txBody>
          <a:bodyPr wrap="square">
            <a:spAutoFit/>
          </a:bodyPr>
          <a:lstStyle/>
          <a:p>
            <a:pPr>
              <a:defRPr sz="2200" b="1">
                <a:solidFill>
                  <a:srgbClr val="38BDF8"/>
                </a:solidFill>
              </a:defRPr>
            </a:pPr>
            <a:r>
              <a:t>Podjela odgovornosti:</a:t>
            </a:r>
          </a:p>
          <a:p>
            <a:pPr>
              <a:spcBef>
                <a:spcPts val="1000"/>
              </a:spcBef>
              <a:defRPr b="1" sz="1800">
                <a:solidFill>
                  <a:srgbClr val="4ADE80"/>
                </a:solidFill>
              </a:defRPr>
            </a:pPr>
            <a:r>
              <a:t>• Jeff:</a:t>
            </a:r>
          </a:p>
          <a:p>
            <a:pPr>
              <a:defRPr sz="1600">
                <a:solidFill>
                  <a:srgbClr val="F8FAFC"/>
                </a:solidFill>
              </a:defRPr>
            </a:pPr>
            <a:r>
              <a:t>  Projektiranje FreeRTOS arhitekture, Wi-Fi softAP konfiguracija, asinkroni Web Server, API razvoj i AJAX klijentski protokol.</a:t>
            </a:r>
          </a:p>
          <a:p>
            <a:pPr>
              <a:spcBef>
                <a:spcPts val="1000"/>
              </a:spcBef>
              <a:defRPr b="1" sz="1800">
                <a:solidFill>
                  <a:srgbClr val="4ADE80"/>
                </a:solidFill>
              </a:defRPr>
            </a:pPr>
            <a:r>
              <a:t>• Partner:</a:t>
            </a:r>
          </a:p>
          <a:p>
            <a:pPr>
              <a:defRPr sz="1600">
                <a:solidFill>
                  <a:srgbClr val="F8FAFC"/>
                </a:solidFill>
              </a:defRPr>
            </a:pPr>
            <a:r>
              <a:t>  Razvoj I2C grafičkog podsustava za OLED zaslon, implementacija algoritma numeričke integracije volumena i konfiguracija Deep Sleep-a.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