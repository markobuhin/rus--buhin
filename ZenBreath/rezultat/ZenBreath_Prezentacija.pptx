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7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70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Dobar dan svima. Danas ćemo vam predstaviti naš projekt pod nazivom ZenBreath. Radi se o naprednom medicinsko-rehabilitacijskom uređaju koji koristi mikrokontroler ESP32 kako bi pacijentima s respiratornim poteškoćama omogućio vizualno vođene vježbe disanja kroz interaktivni koncept biofeedbacka.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Glavni problem s kojim se pacijenti susreću jest taj što nemaju objektivan uvid u to ispuštaju li zrak prejakim ili preslabim intenzitetom. Naš cilj bio je dizajnirati sustav koji prikuplja podatke s respiracijskog senzora, obrađuje ih matematičkim algoritmima u realnom vremenu i klijentu daje trenutne upute na ekranu.</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Ovdje vidimo hardversku konfiguraciju našeg sustava. Kao mozak uređaja odabran je ESP32. Protok zraka emuliramo preko potenciometra spojenog na analogni pin 34. Za prikaz podataka koristimo OLED zaslon na I2C sabirnici s adresom 0x3C, dok je gumb za buđenje spojen na GPIO 14 koji pripada RTC domeni.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Kako bismo zadovoljili stroge uvjete rada u realnom vremenu, iskoristili smo dvojezgrenu arhitekturu ESP32. Mrežni poslužitelj izolirali smo na dretvu unutar Core 0, dok se mjerenje i crtanje na ekranu neometano odvijaju na Core 1. Time smo osigurali da klijentsko surfanje po web sučelju ne utječe na stabilnost uzorkovanja senzora.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Sustav konstantno prati stanje senzora. Ako je vrijednost protoka ispod praga od 8%, smatramo da korisnik ne puše i filtriramo šum. Čim pređe prag, aktivira se algoritam numeričke integracije koji svakih 100 milisekundi zbraja površinu ispod krivulje protoka, čime u hodu dobivamo ukupni volumen izdisaja u mililitrima.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Pacijent na OLED zaslonu vidi dinamičku grafiku. Njegov zadatak je puhati tako da drži bijelu kuglicu unutar označenog pravokutnika na ekranu. Sustav ga kroz tekstualne poruke aktivno usmjerava i obavještava treba li pojačati ili smanjiti intenzitet izdisaja kako bi vježba bila terapeutska.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Za potrebe daljinskog praćenja, sustav podiže vlastitu Wi-Fi mrežu osiguranu lozinkom. Bilo koji uređaj s preglednikom može pristupiti kontrolnoj ploči. Koristili smo naprednu AJAX tehniku gdje klijentski JavaScript svakih 200 milisekundi povlači lagane CSV podatke s endpointa /data, što nam omogućuje brz odziv sučelja bez opterećenja procesora.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Ugradbeni sustavi moraju biti energetski učinkoviti. Ako uređaj stoji na stolu 30 sekundi bez detektiranog izdisaja, na ekranu se ispisuje poruka o gašenju i sustav odlazi u Deep Sleep mod. U tom stanju troši zanemarivu struju, a ponovno se budi trenutno na pritisak fizičkog gumba zahvaljujući RTC kontroleru koji jedini ostaje aktivan.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Sustav smo rigorozno testirali kroz tri scenarija. Potvrdili smo da mrežni napadi ne mogu srušiti mjerenje, da softverski filter uspješno odbija šum okoline te da ugrađeni algoritam ispravno klasificira snagu pluća nakon završetka testa i drži rezultate na ekranu točno 6 sekundi prije povratka u pripravnost.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Za kraj možemo zaključiti da je projekt u potpunosti ostvario sve zadane ciljeve. Pokazali smo kako se optimizacijom koda i korištenjem naprednih mogućnosti ESP32 čipa može napraviti stabilan i pouzdan medicinski uređaj. Podijelili smo rad na komunikacijski i mjerni dio, što nam je omogućilo paralelni razvoj i uspješno spajanje svih komponenti u cjelinu. Hvala vam na pažnji, a sada smo otvoreni za sva vaša pitanja.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360152" cy="2998257"/>
          </a:xfrm>
          <a:prstGeom prst="rect">
            <a:avLst/>
          </a:prstGeom>
          <a:noFill/>
        </p:spPr>
        <p:txBody>
          <a:bodyPr wrap="square">
            <a:spAutoFit/>
          </a:bodyPr>
          <a:lstStyle/>
          <a:p>
            <a:pPr>
              <a:defRPr sz="5400" b="1">
                <a:solidFill>
                  <a:srgbClr val="38BDF8"/>
                </a:solidFill>
                <a:latin typeface="Arial"/>
              </a:defRPr>
            </a:pPr>
            <a:r>
              <a:rPr dirty="0" err="1"/>
              <a:t>ZenBreath</a:t>
            </a:r>
            <a:endParaRPr dirty="0"/>
          </a:p>
          <a:p>
            <a:pPr>
              <a:spcBef>
                <a:spcPts val="1000"/>
              </a:spcBef>
              <a:defRPr sz="2400" b="1">
                <a:solidFill>
                  <a:srgbClr val="F8FAFC"/>
                </a:solidFill>
                <a:latin typeface="Arial"/>
              </a:defRPr>
            </a:pPr>
            <a:r>
              <a:rPr dirty="0"/>
              <a:t>RPG Biofeedback </a:t>
            </a:r>
            <a:r>
              <a:rPr dirty="0" err="1"/>
              <a:t>Spirometar</a:t>
            </a:r>
            <a:r>
              <a:rPr dirty="0"/>
              <a:t> za </a:t>
            </a:r>
            <a:r>
              <a:rPr dirty="0" err="1"/>
              <a:t>Respiratornu</a:t>
            </a:r>
            <a:r>
              <a:rPr dirty="0"/>
              <a:t> </a:t>
            </a:r>
            <a:r>
              <a:rPr dirty="0" err="1"/>
              <a:t>Rehabilitaciju</a:t>
            </a:r>
            <a:endParaRPr dirty="0"/>
          </a:p>
          <a:p>
            <a:pPr>
              <a:spcBef>
                <a:spcPts val="1500"/>
              </a:spcBef>
              <a:defRPr sz="1800">
                <a:solidFill>
                  <a:srgbClr val="94A3B8"/>
                </a:solidFill>
                <a:latin typeface="Arial"/>
              </a:defRPr>
            </a:pPr>
            <a:r>
              <a:rPr dirty="0" err="1"/>
              <a:t>Implementacija</a:t>
            </a:r>
            <a:r>
              <a:rPr dirty="0"/>
              <a:t> </a:t>
            </a:r>
            <a:r>
              <a:rPr dirty="0" err="1"/>
              <a:t>dvojezgrenog</a:t>
            </a:r>
            <a:r>
              <a:rPr dirty="0"/>
              <a:t> IoT </a:t>
            </a:r>
            <a:r>
              <a:rPr dirty="0" err="1"/>
              <a:t>ugradbenog</a:t>
            </a:r>
            <a:r>
              <a:rPr dirty="0"/>
              <a:t> </a:t>
            </a:r>
            <a:r>
              <a:rPr dirty="0" err="1"/>
              <a:t>sustava</a:t>
            </a:r>
            <a:r>
              <a:rPr dirty="0"/>
              <a:t> u </a:t>
            </a:r>
            <a:r>
              <a:rPr dirty="0" err="1"/>
              <a:t>realnom</a:t>
            </a:r>
            <a:r>
              <a:rPr dirty="0"/>
              <a:t> </a:t>
            </a:r>
            <a:r>
              <a:rPr dirty="0" err="1"/>
              <a:t>vremenu</a:t>
            </a:r>
            <a:r>
              <a:rPr dirty="0"/>
              <a:t> </a:t>
            </a:r>
            <a:r>
              <a:rPr dirty="0" err="1"/>
              <a:t>na</a:t>
            </a:r>
            <a:r>
              <a:rPr dirty="0"/>
              <a:t> ESP32 </a:t>
            </a:r>
            <a:r>
              <a:rPr dirty="0" err="1"/>
              <a:t>platformi</a:t>
            </a:r>
            <a:endParaRPr dirty="0"/>
          </a:p>
          <a:p>
            <a:br>
              <a:rPr dirty="0"/>
            </a:br>
            <a:r>
              <a:rPr lang="hr-HR" dirty="0">
                <a:solidFill>
                  <a:schemeClr val="bg1"/>
                </a:solidFill>
              </a:rPr>
              <a:t>Studenti</a:t>
            </a:r>
            <a:r>
              <a:rPr dirty="0">
                <a:solidFill>
                  <a:schemeClr val="bg1"/>
                </a:solidFill>
              </a:rPr>
              <a:t>: </a:t>
            </a:r>
            <a:r>
              <a:rPr lang="hr-HR" dirty="0">
                <a:solidFill>
                  <a:schemeClr val="bg1"/>
                </a:solidFill>
              </a:rPr>
              <a:t>Buhin,Klaić</a:t>
            </a:r>
          </a:p>
          <a:p>
            <a:r>
              <a:rPr lang="hr-HR" dirty="0">
                <a:solidFill>
                  <a:schemeClr val="bg1"/>
                </a:solidFill>
              </a:rPr>
              <a:t>Nastavnik: izv.prof.dr.sc. Vlado Sruk</a:t>
            </a:r>
            <a:br>
              <a:rPr dirty="0">
                <a:solidFill>
                  <a:schemeClr val="bg1"/>
                </a:solidFill>
              </a:rPr>
            </a:br>
            <a:r>
              <a:rPr dirty="0" err="1">
                <a:solidFill>
                  <a:schemeClr val="bg1"/>
                </a:solidFill>
              </a:rPr>
              <a:t>Lipanj</a:t>
            </a:r>
            <a:r>
              <a:rPr dirty="0">
                <a:solidFill>
                  <a:schemeClr val="bg1"/>
                </a:solidFill>
              </a:rPr>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Problem, Motivacija i Cilj Projekta</a:t>
            </a:r>
          </a:p>
        </p:txBody>
      </p:sp>
      <p:sp>
        <p:nvSpPr>
          <p:cNvPr id="4" name="TextBox 3"/>
          <p:cNvSpPr txBox="1"/>
          <p:nvPr/>
        </p:nvSpPr>
        <p:spPr>
          <a:xfrm>
            <a:off x="731520" y="1828800"/>
            <a:ext cx="5029200" cy="2400657"/>
          </a:xfrm>
          <a:prstGeom prst="rect">
            <a:avLst/>
          </a:prstGeom>
          <a:noFill/>
        </p:spPr>
        <p:txBody>
          <a:bodyPr wrap="square">
            <a:spAutoFit/>
          </a:bodyPr>
          <a:lstStyle/>
          <a:p>
            <a:pPr>
              <a:defRPr sz="2200" b="1">
                <a:solidFill>
                  <a:srgbClr val="4ADE80"/>
                </a:solidFill>
              </a:defRPr>
            </a:pPr>
            <a:r>
              <a:rPr dirty="0" err="1"/>
              <a:t>Respiratorna</a:t>
            </a:r>
            <a:r>
              <a:rPr dirty="0"/>
              <a:t> problem</a:t>
            </a:r>
            <a:r>
              <a:rPr lang="hr-HR" dirty="0"/>
              <a:t>i</a:t>
            </a:r>
            <a:r>
              <a:rPr dirty="0"/>
              <a:t> u </a:t>
            </a:r>
            <a:r>
              <a:rPr dirty="0" err="1"/>
              <a:t>praksi</a:t>
            </a:r>
            <a:r>
              <a:rPr dirty="0"/>
              <a:t>:</a:t>
            </a:r>
          </a:p>
          <a:p>
            <a:pPr>
              <a:spcBef>
                <a:spcPts val="1200"/>
              </a:spcBef>
              <a:defRPr sz="1800">
                <a:solidFill>
                  <a:srgbClr val="F8FAFC"/>
                </a:solidFill>
              </a:defRPr>
            </a:pPr>
            <a:r>
              <a:rPr dirty="0"/>
              <a:t>• </a:t>
            </a:r>
            <a:r>
              <a:rPr dirty="0" err="1"/>
              <a:t>Pacijenti</a:t>
            </a:r>
            <a:r>
              <a:rPr dirty="0"/>
              <a:t> </a:t>
            </a:r>
            <a:r>
              <a:rPr dirty="0" err="1"/>
              <a:t>na</a:t>
            </a:r>
            <a:r>
              <a:rPr dirty="0"/>
              <a:t> </a:t>
            </a:r>
            <a:r>
              <a:rPr dirty="0" err="1"/>
              <a:t>plućnoj</a:t>
            </a:r>
            <a:r>
              <a:rPr dirty="0"/>
              <a:t> </a:t>
            </a:r>
            <a:r>
              <a:rPr dirty="0" err="1"/>
              <a:t>rehabilitaciji</a:t>
            </a:r>
            <a:r>
              <a:rPr dirty="0"/>
              <a:t> (post-COVID, </a:t>
            </a:r>
            <a:r>
              <a:rPr dirty="0" err="1"/>
              <a:t>astma</a:t>
            </a:r>
            <a:r>
              <a:rPr dirty="0"/>
              <a:t>, KOPB) </a:t>
            </a:r>
            <a:r>
              <a:rPr dirty="0" err="1"/>
              <a:t>moraju</a:t>
            </a:r>
            <a:r>
              <a:rPr dirty="0"/>
              <a:t> </a:t>
            </a:r>
            <a:r>
              <a:rPr dirty="0" err="1"/>
              <a:t>izvoditi</a:t>
            </a:r>
            <a:r>
              <a:rPr dirty="0"/>
              <a:t> </a:t>
            </a:r>
            <a:r>
              <a:rPr dirty="0" err="1"/>
              <a:t>dugotrajne</a:t>
            </a:r>
            <a:r>
              <a:rPr dirty="0"/>
              <a:t>, </a:t>
            </a:r>
            <a:r>
              <a:rPr dirty="0" err="1"/>
              <a:t>kontrolirane</a:t>
            </a:r>
            <a:r>
              <a:rPr dirty="0"/>
              <a:t> </a:t>
            </a:r>
            <a:r>
              <a:rPr dirty="0" err="1"/>
              <a:t>i</a:t>
            </a:r>
            <a:r>
              <a:rPr dirty="0"/>
              <a:t> </a:t>
            </a:r>
            <a:r>
              <a:rPr dirty="0" err="1"/>
              <a:t>ujednačene</a:t>
            </a:r>
            <a:r>
              <a:rPr dirty="0"/>
              <a:t> </a:t>
            </a:r>
            <a:r>
              <a:rPr dirty="0" err="1"/>
              <a:t>izdisaje</a:t>
            </a:r>
            <a:r>
              <a:rPr dirty="0"/>
              <a:t>.</a:t>
            </a:r>
          </a:p>
          <a:p>
            <a:pPr>
              <a:spcBef>
                <a:spcPts val="1200"/>
              </a:spcBef>
              <a:defRPr sz="1800">
                <a:solidFill>
                  <a:srgbClr val="F8FAFC"/>
                </a:solidFill>
              </a:defRPr>
            </a:pPr>
            <a:r>
              <a:rPr dirty="0"/>
              <a:t>• </a:t>
            </a:r>
            <a:r>
              <a:rPr dirty="0" err="1"/>
              <a:t>Nedostatak</a:t>
            </a:r>
            <a:r>
              <a:rPr dirty="0"/>
              <a:t> </a:t>
            </a:r>
            <a:r>
              <a:rPr dirty="0" err="1"/>
              <a:t>povratne</a:t>
            </a:r>
            <a:r>
              <a:rPr dirty="0"/>
              <a:t> </a:t>
            </a:r>
            <a:r>
              <a:rPr dirty="0" err="1"/>
              <a:t>informacije</a:t>
            </a:r>
            <a:r>
              <a:rPr dirty="0"/>
              <a:t> </a:t>
            </a:r>
            <a:r>
              <a:rPr dirty="0" err="1"/>
              <a:t>kod</a:t>
            </a:r>
            <a:r>
              <a:rPr dirty="0"/>
              <a:t> </a:t>
            </a:r>
            <a:r>
              <a:rPr dirty="0" err="1"/>
              <a:t>kućnog</a:t>
            </a:r>
            <a:r>
              <a:rPr dirty="0"/>
              <a:t> </a:t>
            </a:r>
            <a:r>
              <a:rPr dirty="0" err="1"/>
              <a:t>vježbanja</a:t>
            </a:r>
            <a:r>
              <a:rPr dirty="0"/>
              <a:t> </a:t>
            </a:r>
            <a:r>
              <a:rPr dirty="0" err="1"/>
              <a:t>dovodi</a:t>
            </a:r>
            <a:r>
              <a:rPr dirty="0"/>
              <a:t> do </a:t>
            </a:r>
            <a:r>
              <a:rPr dirty="0" err="1"/>
              <a:t>nepravilnog</a:t>
            </a:r>
            <a:r>
              <a:rPr dirty="0"/>
              <a:t> </a:t>
            </a:r>
            <a:r>
              <a:rPr dirty="0" err="1"/>
              <a:t>izvođenja</a:t>
            </a:r>
            <a:r>
              <a:rPr dirty="0"/>
              <a:t> </a:t>
            </a:r>
            <a:r>
              <a:rPr dirty="0" err="1"/>
              <a:t>i</a:t>
            </a:r>
            <a:r>
              <a:rPr dirty="0"/>
              <a:t> </a:t>
            </a:r>
            <a:r>
              <a:rPr dirty="0" err="1"/>
              <a:t>slabijih</a:t>
            </a:r>
            <a:r>
              <a:rPr dirty="0"/>
              <a:t> </a:t>
            </a:r>
            <a:r>
              <a:rPr dirty="0" err="1"/>
              <a:t>terapeutskih</a:t>
            </a:r>
            <a:r>
              <a:rPr dirty="0"/>
              <a:t> </a:t>
            </a:r>
            <a:r>
              <a:rPr dirty="0" err="1"/>
              <a:t>rezultata</a:t>
            </a:r>
            <a:r>
              <a:rPr dirty="0"/>
              <a:t>.</a:t>
            </a:r>
          </a:p>
        </p:txBody>
      </p:sp>
      <p:sp>
        <p:nvSpPr>
          <p:cNvPr id="5" name="TextBox 4"/>
          <p:cNvSpPr txBox="1"/>
          <p:nvPr/>
        </p:nvSpPr>
        <p:spPr>
          <a:xfrm>
            <a:off x="6400800" y="1828800"/>
            <a:ext cx="5029200" cy="4114800"/>
          </a:xfrm>
          <a:prstGeom prst="rect">
            <a:avLst/>
          </a:prstGeom>
          <a:noFill/>
        </p:spPr>
        <p:txBody>
          <a:bodyPr wrap="square">
            <a:spAutoFit/>
          </a:bodyPr>
          <a:lstStyle/>
          <a:p>
            <a:pPr>
              <a:defRPr sz="2200" b="1">
                <a:solidFill>
                  <a:srgbClr val="4ADE80"/>
                </a:solidFill>
              </a:defRPr>
            </a:pPr>
            <a:r>
              <a:rPr dirty="0" err="1"/>
              <a:t>Cilj</a:t>
            </a:r>
            <a:r>
              <a:rPr dirty="0"/>
              <a:t> </a:t>
            </a:r>
            <a:r>
              <a:rPr dirty="0" err="1"/>
              <a:t>sustava</a:t>
            </a:r>
            <a:r>
              <a:rPr dirty="0"/>
              <a:t> </a:t>
            </a:r>
            <a:r>
              <a:rPr dirty="0" err="1"/>
              <a:t>ZenBreath</a:t>
            </a:r>
            <a:r>
              <a:rPr dirty="0"/>
              <a:t>:</a:t>
            </a:r>
          </a:p>
          <a:p>
            <a:pPr>
              <a:spcBef>
                <a:spcPts val="1200"/>
              </a:spcBef>
              <a:defRPr sz="1800">
                <a:solidFill>
                  <a:srgbClr val="F8FAFC"/>
                </a:solidFill>
              </a:defRPr>
            </a:pPr>
            <a:r>
              <a:rPr dirty="0"/>
              <a:t>• </a:t>
            </a:r>
            <a:r>
              <a:rPr dirty="0" err="1"/>
              <a:t>Objektivno</a:t>
            </a:r>
            <a:r>
              <a:rPr dirty="0"/>
              <a:t> </a:t>
            </a:r>
            <a:r>
              <a:rPr dirty="0" err="1"/>
              <a:t>mjerenje</a:t>
            </a:r>
            <a:r>
              <a:rPr dirty="0"/>
              <a:t> </a:t>
            </a:r>
            <a:r>
              <a:rPr dirty="0" err="1"/>
              <a:t>trenutnog</a:t>
            </a:r>
            <a:r>
              <a:rPr dirty="0"/>
              <a:t> </a:t>
            </a:r>
            <a:r>
              <a:rPr dirty="0" err="1"/>
              <a:t>protoka</a:t>
            </a:r>
            <a:r>
              <a:rPr dirty="0"/>
              <a:t> </a:t>
            </a:r>
            <a:r>
              <a:rPr dirty="0" err="1"/>
              <a:t>zraka</a:t>
            </a:r>
            <a:r>
              <a:rPr dirty="0"/>
              <a:t> </a:t>
            </a:r>
            <a:r>
              <a:rPr dirty="0" err="1"/>
              <a:t>pomoću</a:t>
            </a:r>
            <a:r>
              <a:rPr dirty="0"/>
              <a:t> </a:t>
            </a:r>
            <a:r>
              <a:rPr dirty="0" err="1"/>
              <a:t>analognog</a:t>
            </a:r>
            <a:r>
              <a:rPr dirty="0"/>
              <a:t> </a:t>
            </a:r>
            <a:r>
              <a:rPr dirty="0" err="1"/>
              <a:t>senzora</a:t>
            </a:r>
            <a:r>
              <a:rPr dirty="0"/>
              <a:t>.</a:t>
            </a:r>
          </a:p>
          <a:p>
            <a:pPr>
              <a:spcBef>
                <a:spcPts val="1200"/>
              </a:spcBef>
              <a:defRPr sz="1800">
                <a:solidFill>
                  <a:srgbClr val="F8FAFC"/>
                </a:solidFill>
              </a:defRPr>
            </a:pPr>
            <a:r>
              <a:rPr dirty="0"/>
              <a:t>• </a:t>
            </a:r>
            <a:r>
              <a:rPr dirty="0" err="1"/>
              <a:t>Pretvaranje</a:t>
            </a:r>
            <a:r>
              <a:rPr dirty="0"/>
              <a:t> </a:t>
            </a:r>
            <a:r>
              <a:rPr dirty="0" err="1"/>
              <a:t>suhoparnih</a:t>
            </a:r>
            <a:r>
              <a:rPr dirty="0"/>
              <a:t> </a:t>
            </a:r>
            <a:r>
              <a:rPr dirty="0" err="1"/>
              <a:t>fizikalnih</a:t>
            </a:r>
            <a:r>
              <a:rPr dirty="0"/>
              <a:t> </a:t>
            </a:r>
            <a:r>
              <a:rPr dirty="0" err="1"/>
              <a:t>parametara</a:t>
            </a:r>
            <a:r>
              <a:rPr dirty="0"/>
              <a:t> u </a:t>
            </a:r>
            <a:r>
              <a:rPr dirty="0" err="1"/>
              <a:t>intuitivni</a:t>
            </a:r>
            <a:r>
              <a:rPr dirty="0"/>
              <a:t> </a:t>
            </a:r>
            <a:r>
              <a:rPr dirty="0" err="1"/>
              <a:t>grafički</a:t>
            </a:r>
            <a:r>
              <a:rPr dirty="0"/>
              <a:t> 'let' </a:t>
            </a:r>
            <a:r>
              <a:rPr dirty="0" err="1"/>
              <a:t>na</a:t>
            </a:r>
            <a:r>
              <a:rPr dirty="0"/>
              <a:t> </a:t>
            </a:r>
            <a:r>
              <a:rPr dirty="0" err="1"/>
              <a:t>zaslonu</a:t>
            </a:r>
            <a:r>
              <a:rPr dirty="0"/>
              <a:t> </a:t>
            </a:r>
            <a:r>
              <a:rPr dirty="0" err="1"/>
              <a:t>kroz</a:t>
            </a:r>
            <a:r>
              <a:rPr dirty="0"/>
              <a:t> </a:t>
            </a:r>
            <a:r>
              <a:rPr dirty="0" err="1"/>
              <a:t>elemente</a:t>
            </a:r>
            <a:r>
              <a:rPr dirty="0"/>
              <a:t> </a:t>
            </a:r>
            <a:r>
              <a:rPr dirty="0" err="1"/>
              <a:t>igre</a:t>
            </a:r>
            <a:r>
              <a:rPr dirty="0"/>
              <a:t>.</a:t>
            </a:r>
          </a:p>
          <a:p>
            <a:pPr>
              <a:spcBef>
                <a:spcPts val="1200"/>
              </a:spcBef>
              <a:defRPr sz="1800">
                <a:solidFill>
                  <a:srgbClr val="F8FAFC"/>
                </a:solidFill>
              </a:defRPr>
            </a:pPr>
            <a:r>
              <a:rPr dirty="0"/>
              <a:t>• </a:t>
            </a:r>
            <a:r>
              <a:rPr dirty="0" err="1"/>
              <a:t>Proračun</a:t>
            </a:r>
            <a:r>
              <a:rPr dirty="0"/>
              <a:t> </a:t>
            </a:r>
            <a:r>
              <a:rPr dirty="0" err="1"/>
              <a:t>Forsiranog</a:t>
            </a:r>
            <a:r>
              <a:rPr dirty="0"/>
              <a:t> </a:t>
            </a:r>
            <a:r>
              <a:rPr dirty="0" err="1"/>
              <a:t>vitalnog</a:t>
            </a:r>
            <a:r>
              <a:rPr dirty="0"/>
              <a:t> </a:t>
            </a:r>
            <a:r>
              <a:rPr dirty="0" err="1"/>
              <a:t>kapaciteta</a:t>
            </a:r>
            <a:r>
              <a:rPr dirty="0"/>
              <a:t> (FVC) </a:t>
            </a:r>
            <a:r>
              <a:rPr dirty="0" err="1"/>
              <a:t>na</a:t>
            </a:r>
            <a:r>
              <a:rPr dirty="0"/>
              <a:t> </a:t>
            </a:r>
            <a:r>
              <a:rPr dirty="0" err="1"/>
              <a:t>samom</a:t>
            </a:r>
            <a:r>
              <a:rPr dirty="0"/>
              <a:t> </a:t>
            </a:r>
            <a:r>
              <a:rPr dirty="0" err="1"/>
              <a:t>ugradbenom</a:t>
            </a:r>
            <a:r>
              <a:rPr dirty="0"/>
              <a:t> </a:t>
            </a:r>
            <a:r>
              <a:rPr dirty="0" err="1"/>
              <a:t>uređaju</a:t>
            </a:r>
            <a:r>
              <a:rPr dirty="0"/>
              <a:t> u </a:t>
            </a:r>
            <a:r>
              <a:rPr dirty="0" err="1"/>
              <a:t>realnom</a:t>
            </a:r>
            <a:r>
              <a:rPr dirty="0"/>
              <a:t> </a:t>
            </a:r>
            <a:r>
              <a:rPr dirty="0" err="1"/>
              <a:t>vremenu</a:t>
            </a:r>
            <a:r>
              <a:rP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Hardverska Arhitektura i Shema Spajanja</a:t>
            </a:r>
          </a:p>
        </p:txBody>
      </p:sp>
      <p:sp>
        <p:nvSpPr>
          <p:cNvPr id="4" name="TextBox 3"/>
          <p:cNvSpPr txBox="1"/>
          <p:nvPr/>
        </p:nvSpPr>
        <p:spPr>
          <a:xfrm>
            <a:off x="731520" y="1828800"/>
            <a:ext cx="4566621" cy="4001095"/>
          </a:xfrm>
          <a:prstGeom prst="rect">
            <a:avLst/>
          </a:prstGeom>
          <a:noFill/>
        </p:spPr>
        <p:txBody>
          <a:bodyPr wrap="square">
            <a:spAutoFit/>
          </a:bodyPr>
          <a:lstStyle/>
          <a:p>
            <a:pPr>
              <a:defRPr sz="2200" b="1">
                <a:solidFill>
                  <a:srgbClr val="F8FAFC"/>
                </a:solidFill>
              </a:defRPr>
            </a:pPr>
            <a:r>
              <a:rPr dirty="0" err="1"/>
              <a:t>Ključne</a:t>
            </a:r>
            <a:r>
              <a:rPr dirty="0"/>
              <a:t> </a:t>
            </a:r>
            <a:r>
              <a:rPr dirty="0" err="1"/>
              <a:t>komponente</a:t>
            </a:r>
            <a:r>
              <a:rPr dirty="0"/>
              <a:t> </a:t>
            </a:r>
            <a:r>
              <a:rPr dirty="0" err="1"/>
              <a:t>i</a:t>
            </a:r>
            <a:r>
              <a:rPr dirty="0"/>
              <a:t> </a:t>
            </a:r>
            <a:r>
              <a:rPr dirty="0" err="1"/>
              <a:t>povezivanje</a:t>
            </a:r>
            <a:r>
              <a:rPr dirty="0"/>
              <a:t> </a:t>
            </a:r>
            <a:r>
              <a:rPr dirty="0" err="1"/>
              <a:t>na</a:t>
            </a:r>
            <a:r>
              <a:rPr dirty="0"/>
              <a:t> ESP32:</a:t>
            </a:r>
          </a:p>
          <a:p>
            <a:pPr>
              <a:spcBef>
                <a:spcPts val="1200"/>
              </a:spcBef>
              <a:defRPr sz="1800">
                <a:solidFill>
                  <a:srgbClr val="38BDF8"/>
                </a:solidFill>
              </a:defRPr>
            </a:pPr>
            <a:r>
              <a:rPr dirty="0"/>
              <a:t>• </a:t>
            </a:r>
            <a:r>
              <a:rPr b="1" dirty="0" err="1">
                <a:solidFill>
                  <a:srgbClr val="38BDF8"/>
                </a:solidFill>
              </a:rPr>
              <a:t>Senzor</a:t>
            </a:r>
            <a:r>
              <a:rPr b="1" dirty="0">
                <a:solidFill>
                  <a:srgbClr val="38BDF8"/>
                </a:solidFill>
              </a:rPr>
              <a:t> </a:t>
            </a:r>
            <a:r>
              <a:rPr b="1" dirty="0" err="1">
                <a:solidFill>
                  <a:srgbClr val="38BDF8"/>
                </a:solidFill>
              </a:rPr>
              <a:t>protoka</a:t>
            </a:r>
            <a:r>
              <a:rPr b="1" dirty="0">
                <a:solidFill>
                  <a:srgbClr val="38BDF8"/>
                </a:solidFill>
              </a:rPr>
              <a:t> (</a:t>
            </a:r>
            <a:r>
              <a:rPr b="1" dirty="0" err="1">
                <a:solidFill>
                  <a:srgbClr val="38BDF8"/>
                </a:solidFill>
              </a:rPr>
              <a:t>Potenciometar</a:t>
            </a:r>
            <a:r>
              <a:rPr b="1" dirty="0">
                <a:solidFill>
                  <a:srgbClr val="38BDF8"/>
                </a:solidFill>
              </a:rPr>
              <a:t>): </a:t>
            </a:r>
            <a:r>
              <a:rPr dirty="0" err="1">
                <a:solidFill>
                  <a:srgbClr val="F8FAFC"/>
                </a:solidFill>
              </a:rPr>
              <a:t>Spojen</a:t>
            </a:r>
            <a:r>
              <a:rPr dirty="0">
                <a:solidFill>
                  <a:srgbClr val="F8FAFC"/>
                </a:solidFill>
              </a:rPr>
              <a:t> </a:t>
            </a:r>
            <a:r>
              <a:rPr dirty="0" err="1">
                <a:solidFill>
                  <a:srgbClr val="F8FAFC"/>
                </a:solidFill>
              </a:rPr>
              <a:t>na</a:t>
            </a:r>
            <a:r>
              <a:rPr dirty="0">
                <a:solidFill>
                  <a:srgbClr val="F8FAFC"/>
                </a:solidFill>
              </a:rPr>
              <a:t> ADC1 (GPIO 34). </a:t>
            </a:r>
            <a:r>
              <a:rPr dirty="0" err="1">
                <a:solidFill>
                  <a:srgbClr val="F8FAFC"/>
                </a:solidFill>
              </a:rPr>
              <a:t>Služi</a:t>
            </a:r>
            <a:r>
              <a:rPr dirty="0">
                <a:solidFill>
                  <a:srgbClr val="F8FAFC"/>
                </a:solidFill>
              </a:rPr>
              <a:t> za </a:t>
            </a:r>
            <a:r>
              <a:rPr dirty="0" err="1">
                <a:solidFill>
                  <a:srgbClr val="F8FAFC"/>
                </a:solidFill>
              </a:rPr>
              <a:t>emulaciju</a:t>
            </a:r>
            <a:r>
              <a:rPr dirty="0">
                <a:solidFill>
                  <a:srgbClr val="F8FAFC"/>
                </a:solidFill>
              </a:rPr>
              <a:t> </a:t>
            </a:r>
            <a:r>
              <a:rPr dirty="0" err="1">
                <a:solidFill>
                  <a:srgbClr val="F8FAFC"/>
                </a:solidFill>
              </a:rPr>
              <a:t>diferencijalnog</a:t>
            </a:r>
            <a:r>
              <a:rPr dirty="0">
                <a:solidFill>
                  <a:srgbClr val="F8FAFC"/>
                </a:solidFill>
              </a:rPr>
              <a:t> </a:t>
            </a:r>
            <a:r>
              <a:rPr dirty="0" err="1">
                <a:solidFill>
                  <a:srgbClr val="F8FAFC"/>
                </a:solidFill>
              </a:rPr>
              <a:t>tlaka</a:t>
            </a:r>
            <a:r>
              <a:rPr dirty="0">
                <a:solidFill>
                  <a:srgbClr val="F8FAFC"/>
                </a:solidFill>
              </a:rPr>
              <a:t> </a:t>
            </a:r>
            <a:r>
              <a:rPr dirty="0" err="1">
                <a:solidFill>
                  <a:srgbClr val="F8FAFC"/>
                </a:solidFill>
              </a:rPr>
              <a:t>zraka</a:t>
            </a:r>
            <a:r>
              <a:rPr dirty="0">
                <a:solidFill>
                  <a:srgbClr val="F8FAFC"/>
                </a:solidFill>
              </a:rPr>
              <a:t>.</a:t>
            </a:r>
          </a:p>
          <a:p>
            <a:pPr>
              <a:spcBef>
                <a:spcPts val="1200"/>
              </a:spcBef>
              <a:defRPr sz="1800">
                <a:solidFill>
                  <a:srgbClr val="38BDF8"/>
                </a:solidFill>
              </a:defRPr>
            </a:pPr>
            <a:r>
              <a:rPr dirty="0"/>
              <a:t>• </a:t>
            </a:r>
            <a:r>
              <a:rPr b="1" dirty="0">
                <a:solidFill>
                  <a:srgbClr val="38BDF8"/>
                </a:solidFill>
              </a:rPr>
              <a:t>SSD1306 OLED </a:t>
            </a:r>
            <a:r>
              <a:rPr b="1" dirty="0" err="1">
                <a:solidFill>
                  <a:srgbClr val="38BDF8"/>
                </a:solidFill>
              </a:rPr>
              <a:t>zaslon</a:t>
            </a:r>
            <a:r>
              <a:rPr b="1" dirty="0">
                <a:solidFill>
                  <a:srgbClr val="38BDF8"/>
                </a:solidFill>
              </a:rPr>
              <a:t> (128x64 </a:t>
            </a:r>
            <a:r>
              <a:rPr b="1" dirty="0" err="1">
                <a:solidFill>
                  <a:srgbClr val="38BDF8"/>
                </a:solidFill>
              </a:rPr>
              <a:t>px</a:t>
            </a:r>
            <a:r>
              <a:rPr b="1" dirty="0">
                <a:solidFill>
                  <a:srgbClr val="38BDF8"/>
                </a:solidFill>
              </a:rPr>
              <a:t>): </a:t>
            </a:r>
            <a:r>
              <a:rPr dirty="0" err="1">
                <a:solidFill>
                  <a:srgbClr val="F8FAFC"/>
                </a:solidFill>
              </a:rPr>
              <a:t>Spojen</a:t>
            </a:r>
            <a:r>
              <a:rPr dirty="0">
                <a:solidFill>
                  <a:srgbClr val="F8FAFC"/>
                </a:solidFill>
              </a:rPr>
              <a:t> </a:t>
            </a:r>
            <a:r>
              <a:rPr dirty="0" err="1">
                <a:solidFill>
                  <a:srgbClr val="F8FAFC"/>
                </a:solidFill>
              </a:rPr>
              <a:t>preko</a:t>
            </a:r>
            <a:r>
              <a:rPr dirty="0">
                <a:solidFill>
                  <a:srgbClr val="F8FAFC"/>
                </a:solidFill>
              </a:rPr>
              <a:t> I2C </a:t>
            </a:r>
            <a:r>
              <a:rPr dirty="0" err="1">
                <a:solidFill>
                  <a:srgbClr val="F8FAFC"/>
                </a:solidFill>
              </a:rPr>
              <a:t>sabirnice</a:t>
            </a:r>
            <a:r>
              <a:rPr dirty="0">
                <a:solidFill>
                  <a:srgbClr val="F8FAFC"/>
                </a:solidFill>
              </a:rPr>
              <a:t> (SDA -&gt; GPIO 21, SCL -&gt; GPIO 22) </a:t>
            </a:r>
            <a:r>
              <a:rPr dirty="0" err="1">
                <a:solidFill>
                  <a:srgbClr val="F8FAFC"/>
                </a:solidFill>
              </a:rPr>
              <a:t>na</a:t>
            </a:r>
            <a:r>
              <a:rPr dirty="0">
                <a:solidFill>
                  <a:srgbClr val="F8FAFC"/>
                </a:solidFill>
              </a:rPr>
              <a:t> </a:t>
            </a:r>
            <a:r>
              <a:rPr dirty="0" err="1">
                <a:solidFill>
                  <a:srgbClr val="F8FAFC"/>
                </a:solidFill>
              </a:rPr>
              <a:t>adresi</a:t>
            </a:r>
            <a:r>
              <a:rPr dirty="0">
                <a:solidFill>
                  <a:srgbClr val="F8FAFC"/>
                </a:solidFill>
              </a:rPr>
              <a:t> 0x3C. </a:t>
            </a:r>
            <a:r>
              <a:rPr dirty="0" err="1">
                <a:solidFill>
                  <a:srgbClr val="F8FAFC"/>
                </a:solidFill>
              </a:rPr>
              <a:t>Renderira</a:t>
            </a:r>
            <a:r>
              <a:rPr dirty="0">
                <a:solidFill>
                  <a:srgbClr val="F8FAFC"/>
                </a:solidFill>
              </a:rPr>
              <a:t> biofeedback </a:t>
            </a:r>
            <a:r>
              <a:rPr dirty="0" err="1">
                <a:solidFill>
                  <a:srgbClr val="F8FAFC"/>
                </a:solidFill>
              </a:rPr>
              <a:t>sučelje</a:t>
            </a:r>
            <a:r>
              <a:rPr dirty="0">
                <a:solidFill>
                  <a:srgbClr val="F8FAFC"/>
                </a:solidFill>
              </a:rPr>
              <a:t>.</a:t>
            </a:r>
          </a:p>
          <a:p>
            <a:pPr>
              <a:spcBef>
                <a:spcPts val="1200"/>
              </a:spcBef>
              <a:defRPr sz="1800">
                <a:solidFill>
                  <a:srgbClr val="38BDF8"/>
                </a:solidFill>
              </a:defRPr>
            </a:pPr>
            <a:r>
              <a:rPr dirty="0"/>
              <a:t>• </a:t>
            </a:r>
            <a:r>
              <a:rPr b="1" dirty="0">
                <a:solidFill>
                  <a:srgbClr val="38BDF8"/>
                </a:solidFill>
              </a:rPr>
              <a:t>Wake-up Gumb: </a:t>
            </a:r>
            <a:r>
              <a:rPr dirty="0" err="1">
                <a:solidFill>
                  <a:srgbClr val="F8FAFC"/>
                </a:solidFill>
              </a:rPr>
              <a:t>Spojen</a:t>
            </a:r>
            <a:r>
              <a:rPr dirty="0">
                <a:solidFill>
                  <a:srgbClr val="F8FAFC"/>
                </a:solidFill>
              </a:rPr>
              <a:t> </a:t>
            </a:r>
            <a:r>
              <a:rPr dirty="0" err="1">
                <a:solidFill>
                  <a:srgbClr val="F8FAFC"/>
                </a:solidFill>
              </a:rPr>
              <a:t>na</a:t>
            </a:r>
            <a:r>
              <a:rPr dirty="0">
                <a:solidFill>
                  <a:srgbClr val="F8FAFC"/>
                </a:solidFill>
              </a:rPr>
              <a:t> GPIO 14 (RTC </a:t>
            </a:r>
            <a:r>
              <a:rPr dirty="0" err="1">
                <a:solidFill>
                  <a:srgbClr val="F8FAFC"/>
                </a:solidFill>
              </a:rPr>
              <a:t>domena</a:t>
            </a:r>
            <a:r>
              <a:rPr dirty="0">
                <a:solidFill>
                  <a:srgbClr val="F8FAFC"/>
                </a:solidFill>
              </a:rPr>
              <a:t>). </a:t>
            </a:r>
            <a:r>
              <a:rPr dirty="0" err="1">
                <a:solidFill>
                  <a:srgbClr val="F8FAFC"/>
                </a:solidFill>
              </a:rPr>
              <a:t>Koristi</a:t>
            </a:r>
            <a:r>
              <a:rPr dirty="0">
                <a:solidFill>
                  <a:srgbClr val="F8FAFC"/>
                </a:solidFill>
              </a:rPr>
              <a:t> </a:t>
            </a:r>
            <a:r>
              <a:rPr dirty="0" err="1">
                <a:solidFill>
                  <a:srgbClr val="F8FAFC"/>
                </a:solidFill>
              </a:rPr>
              <a:t>interni</a:t>
            </a:r>
            <a:r>
              <a:rPr dirty="0">
                <a:solidFill>
                  <a:srgbClr val="F8FAFC"/>
                </a:solidFill>
              </a:rPr>
              <a:t> pull-up </a:t>
            </a:r>
            <a:r>
              <a:rPr dirty="0" err="1">
                <a:solidFill>
                  <a:srgbClr val="F8FAFC"/>
                </a:solidFill>
              </a:rPr>
              <a:t>otpornik</a:t>
            </a:r>
            <a:r>
              <a:rPr dirty="0">
                <a:solidFill>
                  <a:srgbClr val="F8FAFC"/>
                </a:solidFill>
              </a:rPr>
              <a:t> za </a:t>
            </a:r>
            <a:r>
              <a:rPr dirty="0" err="1">
                <a:solidFill>
                  <a:srgbClr val="F8FAFC"/>
                </a:solidFill>
              </a:rPr>
              <a:t>buđenje</a:t>
            </a:r>
            <a:r>
              <a:rPr dirty="0">
                <a:solidFill>
                  <a:srgbClr val="F8FAFC"/>
                </a:solidFill>
              </a:rPr>
              <a:t> </a:t>
            </a:r>
            <a:r>
              <a:rPr dirty="0" err="1">
                <a:solidFill>
                  <a:srgbClr val="F8FAFC"/>
                </a:solidFill>
              </a:rPr>
              <a:t>iz</a:t>
            </a:r>
            <a:r>
              <a:rPr dirty="0">
                <a:solidFill>
                  <a:srgbClr val="F8FAFC"/>
                </a:solidFill>
              </a:rPr>
              <a:t> Deep Sleep </a:t>
            </a:r>
            <a:r>
              <a:rPr dirty="0" err="1">
                <a:solidFill>
                  <a:srgbClr val="F8FAFC"/>
                </a:solidFill>
              </a:rPr>
              <a:t>moda</a:t>
            </a:r>
            <a:r>
              <a:rPr dirty="0">
                <a:solidFill>
                  <a:srgbClr val="F8FAFC"/>
                </a:solidFill>
              </a:rPr>
              <a:t>.</a:t>
            </a:r>
          </a:p>
        </p:txBody>
      </p:sp>
      <p:pic>
        <p:nvPicPr>
          <p:cNvPr id="6" name="Picture 5">
            <a:extLst>
              <a:ext uri="{FF2B5EF4-FFF2-40B4-BE49-F238E27FC236}">
                <a16:creationId xmlns:a16="http://schemas.microsoft.com/office/drawing/2014/main" id="{228FCE30-08EC-7E6D-C19F-D2C9D50FA7A9}"/>
              </a:ext>
            </a:extLst>
          </p:cNvPr>
          <p:cNvPicPr>
            <a:picLocks noChangeAspect="1"/>
          </p:cNvPicPr>
          <p:nvPr/>
        </p:nvPicPr>
        <p:blipFill>
          <a:blip r:embed="rId3"/>
          <a:stretch>
            <a:fillRect/>
          </a:stretch>
        </p:blipFill>
        <p:spPr>
          <a:xfrm>
            <a:off x="6568142" y="1371600"/>
            <a:ext cx="3310964" cy="50610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Softverska Arhitektura i FreeRTOS Multithreading</a:t>
            </a:r>
          </a:p>
        </p:txBody>
      </p:sp>
      <p:sp>
        <p:nvSpPr>
          <p:cNvPr id="4" name="TextBox 3"/>
          <p:cNvSpPr txBox="1"/>
          <p:nvPr/>
        </p:nvSpPr>
        <p:spPr>
          <a:xfrm>
            <a:off x="731520" y="1828800"/>
            <a:ext cx="10725912" cy="2554545"/>
          </a:xfrm>
          <a:prstGeom prst="rect">
            <a:avLst/>
          </a:prstGeom>
          <a:noFill/>
        </p:spPr>
        <p:txBody>
          <a:bodyPr wrap="square">
            <a:spAutoFit/>
          </a:bodyPr>
          <a:lstStyle/>
          <a:p>
            <a:pPr>
              <a:defRPr sz="2200" b="1">
                <a:solidFill>
                  <a:srgbClr val="4ADE80"/>
                </a:solidFill>
              </a:defRPr>
            </a:pPr>
            <a:r>
              <a:rPr dirty="0" err="1"/>
              <a:t>Asimetrični</a:t>
            </a:r>
            <a:r>
              <a:rPr dirty="0"/>
              <a:t> Multitasking (AMP) za rad u </a:t>
            </a:r>
            <a:r>
              <a:rPr dirty="0" err="1"/>
              <a:t>realnom</a:t>
            </a:r>
            <a:r>
              <a:rPr dirty="0"/>
              <a:t> </a:t>
            </a:r>
            <a:r>
              <a:rPr dirty="0" err="1"/>
              <a:t>vremenu</a:t>
            </a:r>
            <a:r>
              <a:rPr dirty="0"/>
              <a:t>:</a:t>
            </a:r>
          </a:p>
          <a:p>
            <a:pPr>
              <a:spcBef>
                <a:spcPts val="1200"/>
              </a:spcBef>
              <a:defRPr sz="1800">
                <a:solidFill>
                  <a:srgbClr val="F8FAFC"/>
                </a:solidFill>
              </a:defRPr>
            </a:pPr>
            <a:r>
              <a:rPr dirty="0"/>
              <a:t>• </a:t>
            </a:r>
            <a:r>
              <a:rPr dirty="0" err="1"/>
              <a:t>Jezgra</a:t>
            </a:r>
            <a:r>
              <a:rPr dirty="0"/>
              <a:t> 1 (Core 1): </a:t>
            </a:r>
            <a:r>
              <a:rPr dirty="0" err="1"/>
              <a:t>Izvršava</a:t>
            </a:r>
            <a:r>
              <a:rPr dirty="0"/>
              <a:t> </a:t>
            </a:r>
            <a:r>
              <a:rPr dirty="0" err="1"/>
              <a:t>determinističku</a:t>
            </a:r>
            <a:r>
              <a:rPr dirty="0"/>
              <a:t> </a:t>
            </a:r>
            <a:r>
              <a:rPr dirty="0" err="1"/>
              <a:t>petlju</a:t>
            </a:r>
            <a:r>
              <a:rPr dirty="0"/>
              <a:t> loop(). </a:t>
            </a:r>
            <a:r>
              <a:rPr dirty="0" err="1"/>
              <a:t>Zadužena</a:t>
            </a:r>
            <a:r>
              <a:rPr dirty="0"/>
              <a:t> za </a:t>
            </a:r>
            <a:r>
              <a:rPr dirty="0" err="1"/>
              <a:t>uzorkovanje</a:t>
            </a:r>
            <a:r>
              <a:rPr dirty="0"/>
              <a:t> ADC-a </a:t>
            </a:r>
            <a:r>
              <a:rPr dirty="0" err="1"/>
              <a:t>fiksnom</a:t>
            </a:r>
            <a:r>
              <a:rPr dirty="0"/>
              <a:t> </a:t>
            </a:r>
            <a:r>
              <a:rPr dirty="0" err="1"/>
              <a:t>frekvencijom</a:t>
            </a:r>
            <a:r>
              <a:rPr dirty="0"/>
              <a:t> od 10 Hz, </a:t>
            </a:r>
            <a:r>
              <a:rPr dirty="0" err="1"/>
              <a:t>numeričku</a:t>
            </a:r>
            <a:r>
              <a:rPr dirty="0"/>
              <a:t> </a:t>
            </a:r>
            <a:r>
              <a:rPr dirty="0" err="1"/>
              <a:t>integraciju</a:t>
            </a:r>
            <a:r>
              <a:rPr dirty="0"/>
              <a:t> </a:t>
            </a:r>
            <a:r>
              <a:rPr dirty="0" err="1"/>
              <a:t>volumena</a:t>
            </a:r>
            <a:r>
              <a:rPr dirty="0"/>
              <a:t> </a:t>
            </a:r>
            <a:r>
              <a:rPr dirty="0" err="1"/>
              <a:t>daha</a:t>
            </a:r>
            <a:r>
              <a:rPr dirty="0"/>
              <a:t> </a:t>
            </a:r>
            <a:r>
              <a:rPr dirty="0" err="1"/>
              <a:t>i</a:t>
            </a:r>
            <a:r>
              <a:rPr dirty="0"/>
              <a:t> </a:t>
            </a:r>
            <a:r>
              <a:rPr dirty="0" err="1"/>
              <a:t>crtanje</a:t>
            </a:r>
            <a:r>
              <a:rPr dirty="0"/>
              <a:t> </a:t>
            </a:r>
            <a:r>
              <a:rPr dirty="0" err="1"/>
              <a:t>grafike</a:t>
            </a:r>
            <a:r>
              <a:rPr dirty="0"/>
              <a:t>.</a:t>
            </a:r>
          </a:p>
          <a:p>
            <a:pPr>
              <a:spcBef>
                <a:spcPts val="1200"/>
              </a:spcBef>
              <a:defRPr sz="1800">
                <a:solidFill>
                  <a:srgbClr val="F8FAFC"/>
                </a:solidFill>
              </a:defRPr>
            </a:pPr>
            <a:r>
              <a:rPr dirty="0"/>
              <a:t>• </a:t>
            </a:r>
            <a:r>
              <a:rPr dirty="0" err="1"/>
              <a:t>Jezgra</a:t>
            </a:r>
            <a:r>
              <a:rPr dirty="0"/>
              <a:t> 0 (Core 0): </a:t>
            </a:r>
            <a:r>
              <a:rPr dirty="0" err="1"/>
              <a:t>Izvršava</a:t>
            </a:r>
            <a:r>
              <a:rPr dirty="0"/>
              <a:t> </a:t>
            </a:r>
            <a:r>
              <a:rPr dirty="0" err="1"/>
              <a:t>asinkronu</a:t>
            </a:r>
            <a:r>
              <a:rPr dirty="0"/>
              <a:t> </a:t>
            </a:r>
            <a:r>
              <a:rPr dirty="0" err="1"/>
              <a:t>FreeRTOS</a:t>
            </a:r>
            <a:r>
              <a:rPr dirty="0"/>
              <a:t> </a:t>
            </a:r>
            <a:r>
              <a:rPr dirty="0" err="1"/>
              <a:t>dretvu</a:t>
            </a:r>
            <a:r>
              <a:rPr dirty="0"/>
              <a:t> </a:t>
            </a:r>
            <a:r>
              <a:rPr dirty="0" err="1"/>
              <a:t>TaskServer</a:t>
            </a:r>
            <a:r>
              <a:rPr dirty="0"/>
              <a:t> </a:t>
            </a:r>
            <a:r>
              <a:rPr dirty="0" err="1"/>
              <a:t>kreiranu</a:t>
            </a:r>
            <a:r>
              <a:rPr dirty="0"/>
              <a:t> </a:t>
            </a:r>
            <a:r>
              <a:rPr dirty="0" err="1"/>
              <a:t>preko</a:t>
            </a:r>
            <a:r>
              <a:rPr dirty="0"/>
              <a:t> </a:t>
            </a:r>
            <a:r>
              <a:rPr dirty="0" err="1"/>
              <a:t>xTaskCreatePinnedToCore</a:t>
            </a:r>
            <a:r>
              <a:rPr dirty="0"/>
              <a:t>(). </a:t>
            </a:r>
            <a:r>
              <a:rPr dirty="0" err="1"/>
              <a:t>Upravlja</a:t>
            </a:r>
            <a:r>
              <a:rPr dirty="0"/>
              <a:t> Wi-Fi </a:t>
            </a:r>
            <a:r>
              <a:rPr dirty="0" err="1"/>
              <a:t>stogom</a:t>
            </a:r>
            <a:r>
              <a:rPr dirty="0"/>
              <a:t> (</a:t>
            </a:r>
            <a:r>
              <a:rPr dirty="0" err="1"/>
              <a:t>SoftAP</a:t>
            </a:r>
            <a:r>
              <a:rPr dirty="0"/>
              <a:t>) </a:t>
            </a:r>
            <a:r>
              <a:rPr dirty="0" err="1"/>
              <a:t>i</a:t>
            </a:r>
            <a:r>
              <a:rPr dirty="0"/>
              <a:t> HTTP </a:t>
            </a:r>
            <a:r>
              <a:rPr dirty="0" err="1"/>
              <a:t>poslužiteljem</a:t>
            </a:r>
            <a:r>
              <a:rPr dirty="0"/>
              <a:t>.</a:t>
            </a:r>
          </a:p>
          <a:p>
            <a:pPr>
              <a:spcBef>
                <a:spcPts val="1200"/>
              </a:spcBef>
              <a:defRPr sz="1800">
                <a:solidFill>
                  <a:srgbClr val="F8FAFC"/>
                </a:solidFill>
              </a:defRPr>
            </a:pPr>
            <a:r>
              <a:rPr dirty="0"/>
              <a:t>• </a:t>
            </a:r>
            <a:r>
              <a:rPr lang="hr-HR" dirty="0"/>
              <a:t>P</a:t>
            </a:r>
            <a:r>
              <a:rPr dirty="0" err="1"/>
              <a:t>rednost</a:t>
            </a:r>
            <a:r>
              <a:rPr dirty="0"/>
              <a:t>: </a:t>
            </a:r>
            <a:r>
              <a:rPr dirty="0" err="1"/>
              <a:t>Potpuna</a:t>
            </a:r>
            <a:r>
              <a:rPr dirty="0"/>
              <a:t> </a:t>
            </a:r>
            <a:r>
              <a:rPr dirty="0" err="1"/>
              <a:t>izolacija</a:t>
            </a:r>
            <a:r>
              <a:rPr dirty="0"/>
              <a:t> </a:t>
            </a:r>
            <a:r>
              <a:rPr dirty="0" err="1"/>
              <a:t>kritičnih</a:t>
            </a:r>
            <a:r>
              <a:rPr dirty="0"/>
              <a:t> </a:t>
            </a:r>
            <a:r>
              <a:rPr dirty="0" err="1"/>
              <a:t>operacija</a:t>
            </a:r>
            <a:r>
              <a:rPr dirty="0"/>
              <a:t>. </a:t>
            </a:r>
            <a:r>
              <a:rPr dirty="0" err="1"/>
              <a:t>Intenzivan</a:t>
            </a:r>
            <a:r>
              <a:rPr dirty="0"/>
              <a:t> </a:t>
            </a:r>
            <a:r>
              <a:rPr dirty="0" err="1"/>
              <a:t>mrežni</a:t>
            </a:r>
            <a:r>
              <a:rPr dirty="0"/>
              <a:t> </a:t>
            </a:r>
            <a:r>
              <a:rPr dirty="0" err="1"/>
              <a:t>promet</a:t>
            </a:r>
            <a:r>
              <a:rPr dirty="0"/>
              <a:t> </a:t>
            </a:r>
            <a:r>
              <a:rPr dirty="0" err="1"/>
              <a:t>ili</a:t>
            </a:r>
            <a:r>
              <a:rPr dirty="0"/>
              <a:t> AJAX </a:t>
            </a:r>
            <a:r>
              <a:rPr dirty="0" err="1"/>
              <a:t>upiti</a:t>
            </a:r>
            <a:r>
              <a:rPr dirty="0"/>
              <a:t> s </a:t>
            </a:r>
            <a:r>
              <a:rPr dirty="0" err="1"/>
              <a:t>mobitela</a:t>
            </a:r>
            <a:r>
              <a:rPr dirty="0"/>
              <a:t> ne </a:t>
            </a:r>
            <a:r>
              <a:rPr dirty="0" err="1"/>
              <a:t>mogu</a:t>
            </a:r>
            <a:r>
              <a:rPr dirty="0"/>
              <a:t> </a:t>
            </a:r>
            <a:r>
              <a:rPr dirty="0" err="1"/>
              <a:t>usporiti</a:t>
            </a:r>
            <a:r>
              <a:rPr dirty="0"/>
              <a:t> </a:t>
            </a:r>
            <a:r>
              <a:rPr dirty="0" err="1"/>
              <a:t>niti</a:t>
            </a:r>
            <a:r>
              <a:rPr dirty="0"/>
              <a:t> </a:t>
            </a:r>
            <a:r>
              <a:rPr dirty="0" err="1"/>
              <a:t>uzrokovati</a:t>
            </a:r>
            <a:r>
              <a:rPr dirty="0"/>
              <a:t> </a:t>
            </a:r>
            <a:r>
              <a:rPr dirty="0" err="1"/>
              <a:t>gubitak</a:t>
            </a:r>
            <a:r>
              <a:rPr dirty="0"/>
              <a:t> </a:t>
            </a:r>
            <a:r>
              <a:rPr dirty="0" err="1"/>
              <a:t>uzoraka</a:t>
            </a:r>
            <a:r>
              <a:rPr dirty="0"/>
              <a:t> </a:t>
            </a:r>
            <a:r>
              <a:rPr dirty="0" err="1"/>
              <a:t>mjerenja</a:t>
            </a:r>
            <a:r>
              <a:rPr dirty="0"/>
              <a:t> </a:t>
            </a:r>
            <a:r>
              <a:rPr dirty="0" err="1"/>
              <a:t>daha</a:t>
            </a:r>
            <a:r>
              <a:rPr dirty="0"/>
              <a:t> </a:t>
            </a:r>
            <a:r>
              <a:rPr dirty="0" err="1"/>
              <a:t>na</a:t>
            </a:r>
            <a:r>
              <a:rPr dirty="0"/>
              <a:t> </a:t>
            </a:r>
            <a:r>
              <a:rPr dirty="0" err="1"/>
              <a:t>senzoru</a:t>
            </a:r>
            <a:r>
              <a:rPr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Algoritam Obrade Podataka i Numerička Integracija</a:t>
            </a:r>
          </a:p>
        </p:txBody>
      </p:sp>
      <p:sp>
        <p:nvSpPr>
          <p:cNvPr id="4" name="TextBox 3"/>
          <p:cNvSpPr txBox="1"/>
          <p:nvPr/>
        </p:nvSpPr>
        <p:spPr>
          <a:xfrm>
            <a:off x="731520" y="1828800"/>
            <a:ext cx="10725912" cy="4114800"/>
          </a:xfrm>
          <a:prstGeom prst="rect">
            <a:avLst/>
          </a:prstGeom>
          <a:noFill/>
        </p:spPr>
        <p:txBody>
          <a:bodyPr wrap="square">
            <a:spAutoFit/>
          </a:bodyPr>
          <a:lstStyle/>
          <a:p>
            <a:pPr>
              <a:defRPr sz="1800">
                <a:solidFill>
                  <a:srgbClr val="F8FAFC"/>
                </a:solidFill>
              </a:defRPr>
            </a:pPr>
            <a:r>
              <a:t>• Kondicioniranje signala i filter šuma: Sirova ADC vrijednost (0–4095) se linearno skalira na postotni raspon (0–100%). Softverski prag od 8% (currentFlow &gt; 8) uspješno eliminira električni šum potenciometra.</a:t>
            </a:r>
          </a:p>
          <a:p>
            <a:pPr>
              <a:spcBef>
                <a:spcPts val="1200"/>
              </a:spcBef>
              <a:defRPr sz="1800">
                <a:solidFill>
                  <a:srgbClr val="F8FAFC"/>
                </a:solidFill>
              </a:defRPr>
            </a:pPr>
            <a:r>
              <a:t>• Proračun volumena (FVC): Volumen se računa diskretnom numeričkom integracijom u vremenu (Riemannova suma) unutar svakog koraka uzorkovanja od dt = 100 ms.</a:t>
            </a:r>
          </a:p>
          <a:p>
            <a:pPr>
              <a:spcBef>
                <a:spcPts val="1200"/>
              </a:spcBef>
              <a:defRPr sz="1800">
                <a:solidFill>
                  <a:srgbClr val="F8FAFC"/>
                </a:solidFill>
              </a:defRPr>
            </a:pPr>
            <a:r>
              <a:t>• Matematički model: dV = currentFlow * 0.1 * 4.5  (gdje koeficijent 4.5 predstavlja kalibracijski faktor pretvorbe protoka u mililitre).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Grafički Biofeedback Mehanizam (OLED)</a:t>
            </a:r>
          </a:p>
        </p:txBody>
      </p:sp>
      <p:sp>
        <p:nvSpPr>
          <p:cNvPr id="4" name="TextBox 3"/>
          <p:cNvSpPr txBox="1"/>
          <p:nvPr/>
        </p:nvSpPr>
        <p:spPr>
          <a:xfrm>
            <a:off x="731520" y="1828800"/>
            <a:ext cx="10725912" cy="4114800"/>
          </a:xfrm>
          <a:prstGeom prst="rect">
            <a:avLst/>
          </a:prstGeom>
          <a:noFill/>
        </p:spPr>
        <p:txBody>
          <a:bodyPr wrap="square">
            <a:spAutoFit/>
          </a:bodyPr>
          <a:lstStyle/>
          <a:p>
            <a:pPr>
              <a:defRPr sz="1800">
                <a:solidFill>
                  <a:srgbClr val="F8FAFC"/>
                </a:solidFill>
              </a:defRPr>
            </a:pPr>
            <a:r>
              <a:t>• Dizajn 'ozbiljne igre': Na ekranu je iscrtana ciljana terapeutski optimalna zona (pravokutnik od 40% do 70% protoka).</a:t>
            </a:r>
          </a:p>
          <a:p>
            <a:pPr>
              <a:spcBef>
                <a:spcPts val="800"/>
              </a:spcBef>
              <a:defRPr sz="1800">
                <a:solidFill>
                  <a:srgbClr val="F8FAFC"/>
                </a:solidFill>
              </a:defRPr>
            </a:pPr>
            <a:r>
              <a:t>• Dinamički marker: Bijela kuglica se pomiče horizontalno duž ekrana ovisno o trenutnoj jačini daha pacijenta.</a:t>
            </a:r>
          </a:p>
          <a:p>
            <a:pPr>
              <a:spcBef>
                <a:spcPts val="800"/>
              </a:spcBef>
              <a:defRPr sz="1800">
                <a:solidFill>
                  <a:srgbClr val="F8FAFC"/>
                </a:solidFill>
              </a:defRPr>
            </a:pPr>
            <a:r>
              <a:t>• Tekstualno vođenje pacijenta u realnom vremenu:</a:t>
            </a:r>
          </a:p>
          <a:p>
            <a:pPr>
              <a:spcBef>
                <a:spcPts val="800"/>
              </a:spcBef>
              <a:defRPr sz="1800">
                <a:solidFill>
                  <a:srgbClr val="38BDF8"/>
                </a:solidFill>
              </a:defRPr>
            </a:pPr>
            <a:r>
              <a:t>  - Između 40% i 70% -&gt; 'STABILNO! Drži tako.' (Zelena/optimalna zona)</a:t>
            </a:r>
          </a:p>
          <a:p>
            <a:pPr>
              <a:spcBef>
                <a:spcPts val="800"/>
              </a:spcBef>
              <a:defRPr sz="1800">
                <a:solidFill>
                  <a:srgbClr val="38BDF8"/>
                </a:solidFill>
              </a:defRPr>
            </a:pPr>
            <a:r>
              <a:t>  - Ispod 40% -&gt; 'PRESLABO! Puhni jace.'</a:t>
            </a:r>
          </a:p>
          <a:p>
            <a:pPr>
              <a:spcBef>
                <a:spcPts val="800"/>
              </a:spcBef>
              <a:defRPr sz="1800">
                <a:solidFill>
                  <a:srgbClr val="38BDF8"/>
                </a:solidFill>
              </a:defRPr>
            </a:pPr>
            <a:r>
              <a:t>  - Iznad 70% -&gt; 'PREJAKO! Lakse malo.'</a:t>
            </a:r>
          </a:p>
        </p:txBody>
      </p:sp>
      <p:pic>
        <p:nvPicPr>
          <p:cNvPr id="6" name="Picture 5">
            <a:extLst>
              <a:ext uri="{FF2B5EF4-FFF2-40B4-BE49-F238E27FC236}">
                <a16:creationId xmlns:a16="http://schemas.microsoft.com/office/drawing/2014/main" id="{BB3FB565-7EB4-39E1-459D-B39D417C990C}"/>
              </a:ext>
            </a:extLst>
          </p:cNvPr>
          <p:cNvPicPr>
            <a:picLocks noChangeAspect="1"/>
          </p:cNvPicPr>
          <p:nvPr/>
        </p:nvPicPr>
        <p:blipFill>
          <a:blip r:embed="rId3"/>
          <a:stretch>
            <a:fillRect/>
          </a:stretch>
        </p:blipFill>
        <p:spPr>
          <a:xfrm>
            <a:off x="7780142" y="3190427"/>
            <a:ext cx="3358849" cy="29324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Mrežna Povezivost i Web Dashboard</a:t>
            </a:r>
          </a:p>
        </p:txBody>
      </p:sp>
      <p:sp>
        <p:nvSpPr>
          <p:cNvPr id="4" name="TextBox 3"/>
          <p:cNvSpPr txBox="1"/>
          <p:nvPr/>
        </p:nvSpPr>
        <p:spPr>
          <a:xfrm>
            <a:off x="731520" y="1828800"/>
            <a:ext cx="10725912" cy="4114800"/>
          </a:xfrm>
          <a:prstGeom prst="rect">
            <a:avLst/>
          </a:prstGeom>
          <a:noFill/>
        </p:spPr>
        <p:txBody>
          <a:bodyPr wrap="square">
            <a:spAutoFit/>
          </a:bodyPr>
          <a:lstStyle/>
          <a:p>
            <a:pPr>
              <a:defRPr sz="1800">
                <a:solidFill>
                  <a:srgbClr val="F8FAFC"/>
                </a:solidFill>
              </a:defRPr>
            </a:pPr>
            <a:r>
              <a:t>• Samostalni Access Point (SoftAP): ESP32 podiže vlastitu Wi-Fi mrežu naziva 'ZenBreath-Spirometer' osiguranu WPA2 lozinkom.</a:t>
            </a:r>
          </a:p>
          <a:p>
            <a:pPr>
              <a:spcBef>
                <a:spcPts val="1200"/>
              </a:spcBef>
              <a:defRPr sz="1800">
                <a:solidFill>
                  <a:srgbClr val="F8FAFC"/>
                </a:solidFill>
              </a:defRPr>
            </a:pPr>
            <a:r>
              <a:t>• Ušteda memorije (PROGMEM): HTML, CSS i JavaScript kod su pohranjeni u flash memoriju mikrokontrolera kako se ne bi opterećivao RAM.</a:t>
            </a:r>
          </a:p>
          <a:p>
            <a:pPr>
              <a:spcBef>
                <a:spcPts val="1200"/>
              </a:spcBef>
              <a:defRPr sz="1800">
                <a:solidFill>
                  <a:srgbClr val="F8FAFC"/>
                </a:solidFill>
              </a:defRPr>
            </a:pPr>
            <a:r>
              <a:t>• Asinkrona AJAX / Fetch komunikacija: Klijentski preglednik svakih 200 ms šalje lagani HTTP GET zahtjev na endpoint /data.</a:t>
            </a:r>
          </a:p>
          <a:p>
            <a:pPr>
              <a:spcBef>
                <a:spcPts val="1200"/>
              </a:spcBef>
              <a:defRPr sz="1800">
                <a:solidFill>
                  <a:srgbClr val="F8FAFC"/>
                </a:solidFill>
              </a:defRPr>
            </a:pPr>
            <a:r>
              <a:t>• Format podataka: Server vraća optimizirani sirovi CSV string (currentFlow,maxFlow,totalVolume) koji se trenutno parsira na mobitelu i animira graf bez ponovnog učitavanja stranice.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65" y="8965"/>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Upravljanje Potrošnjom Energije (Deep Sleep)</a:t>
            </a:r>
          </a:p>
        </p:txBody>
      </p:sp>
      <p:sp>
        <p:nvSpPr>
          <p:cNvPr id="4" name="TextBox 3"/>
          <p:cNvSpPr txBox="1"/>
          <p:nvPr/>
        </p:nvSpPr>
        <p:spPr>
          <a:xfrm>
            <a:off x="731519" y="1828800"/>
            <a:ext cx="6592645" cy="2893100"/>
          </a:xfrm>
          <a:prstGeom prst="rect">
            <a:avLst/>
          </a:prstGeom>
          <a:noFill/>
        </p:spPr>
        <p:txBody>
          <a:bodyPr wrap="square">
            <a:spAutoFit/>
          </a:bodyPr>
          <a:lstStyle/>
          <a:p>
            <a:pPr>
              <a:defRPr sz="1800">
                <a:solidFill>
                  <a:srgbClr val="F8FAFC"/>
                </a:solidFill>
              </a:defRPr>
            </a:pPr>
            <a:r>
              <a:t>• Inaktivnost: Ako unutar 30 sekundi protok zraka ne pređe prag (korisnik ne koristi uređaj), sustav gasi OLED zaslon radi sprječavanja burn-in efekta i štednje energije.</a:t>
            </a:r>
          </a:p>
          <a:p>
            <a:pPr>
              <a:spcBef>
                <a:spcPts val="1200"/>
              </a:spcBef>
              <a:defRPr sz="1800">
                <a:solidFill>
                  <a:srgbClr val="F8FAFC"/>
                </a:solidFill>
              </a:defRPr>
            </a:pPr>
            <a:r>
              <a:t>• Deep Sleep način rada: Mikrokontroler gasi procesorske jezgre i Wi-Fi primopredajnik, spuštajući potrošnju struje na kritični minimum (&lt; 15 uA).</a:t>
            </a:r>
          </a:p>
          <a:p>
            <a:pPr>
              <a:spcBef>
                <a:spcPts val="1200"/>
              </a:spcBef>
              <a:defRPr sz="1800">
                <a:solidFill>
                  <a:srgbClr val="F8FAFC"/>
                </a:solidFill>
              </a:defRPr>
            </a:pPr>
            <a:r>
              <a:t>• RTC Buđenje: Pomoću esp_sleep_enable_ext0_wakeup() definiran je vanjski prekid na GPIO 14. Pritisak fizičkog gumba trenutno ponovno pokreće i inicijalizira sustav.</a:t>
            </a:r>
          </a:p>
        </p:txBody>
      </p:sp>
      <p:pic>
        <p:nvPicPr>
          <p:cNvPr id="6" name="Picture 5">
            <a:extLst>
              <a:ext uri="{FF2B5EF4-FFF2-40B4-BE49-F238E27FC236}">
                <a16:creationId xmlns:a16="http://schemas.microsoft.com/office/drawing/2014/main" id="{870DC701-A243-3259-5105-0F98FAC2AD86}"/>
              </a:ext>
            </a:extLst>
          </p:cNvPr>
          <p:cNvPicPr>
            <a:picLocks noChangeAspect="1"/>
          </p:cNvPicPr>
          <p:nvPr/>
        </p:nvPicPr>
        <p:blipFill>
          <a:blip r:embed="rId3"/>
          <a:stretch>
            <a:fillRect/>
          </a:stretch>
        </p:blipFill>
        <p:spPr>
          <a:xfrm>
            <a:off x="8208476" y="2362051"/>
            <a:ext cx="2943636" cy="21338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Verifikacija, Testiranje i Evaluacija Rezultata</a:t>
            </a:r>
          </a:p>
        </p:txBody>
      </p:sp>
      <p:sp>
        <p:nvSpPr>
          <p:cNvPr id="4" name="TextBox 3"/>
          <p:cNvSpPr txBox="1"/>
          <p:nvPr/>
        </p:nvSpPr>
        <p:spPr>
          <a:xfrm>
            <a:off x="731520" y="1828800"/>
            <a:ext cx="10725912" cy="4114800"/>
          </a:xfrm>
          <a:prstGeom prst="rect">
            <a:avLst/>
          </a:prstGeom>
          <a:noFill/>
        </p:spPr>
        <p:txBody>
          <a:bodyPr wrap="square">
            <a:spAutoFit/>
          </a:bodyPr>
          <a:lstStyle/>
          <a:p>
            <a:pPr>
              <a:defRPr sz="1800">
                <a:solidFill>
                  <a:srgbClr val="F8FAFC"/>
                </a:solidFill>
              </a:defRPr>
            </a:pPr>
            <a:r>
              <a:t>• 1. Test robusnosti FreeRTOS-a: Simuliran agresivan nalet AJAX zahtjeva klijenta (50 Hz). Rezultat: Mjerna petlja na Core 1 zadržala je stabilnih i fiksnih 10 Hz uzorkovanja bez kašnjenja.</a:t>
            </a:r>
          </a:p>
          <a:p>
            <a:pPr>
              <a:spcBef>
                <a:spcPts val="800"/>
              </a:spcBef>
              <a:defRPr sz="1800">
                <a:solidFill>
                  <a:srgbClr val="F8FAFC"/>
                </a:solidFill>
              </a:defRPr>
            </a:pPr>
            <a:r>
              <a:t>• 2. Test filtriranja šuma: Unos fluktuacija analognog signala ispod 8%. Rezultat: Sustav uspješno ignorira šum okoline i ostaje u stanju pripravnosti.</a:t>
            </a:r>
          </a:p>
          <a:p>
            <a:pPr>
              <a:spcBef>
                <a:spcPts val="800"/>
              </a:spcBef>
              <a:defRPr sz="1800">
                <a:solidFill>
                  <a:srgbClr val="F8FAFC"/>
                </a:solidFill>
              </a:defRPr>
            </a:pPr>
            <a:r>
              <a:t>• 3. Dijagnostička evaluacija testa: Nakon završetka daha (pad protoka ispod 8% kroz 2s), sustav uspješno evaluira Forsirani vitalni kapacitet (FVC):</a:t>
            </a:r>
          </a:p>
          <a:p>
            <a:pPr>
              <a:spcBef>
                <a:spcPts val="800"/>
              </a:spcBef>
              <a:defRPr sz="1800">
                <a:solidFill>
                  <a:srgbClr val="4ADE80"/>
                </a:solidFill>
              </a:defRPr>
            </a:pPr>
            <a:r>
              <a:t>  - FVC &gt; 2000 mL -&gt; Prikaz na zaslonu: 'Status: IZVRSNO!'</a:t>
            </a:r>
          </a:p>
          <a:p>
            <a:pPr>
              <a:spcBef>
                <a:spcPts val="800"/>
              </a:spcBef>
              <a:defRPr sz="1800">
                <a:solidFill>
                  <a:srgbClr val="4ADE80"/>
                </a:solidFill>
              </a:defRPr>
            </a:pPr>
            <a:r>
              <a:t>  - FVC &lt;= 2000 mL -&gt; Prikaz na zaslonu: 'Status: Potrebna vjezba'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646331"/>
          </a:xfrm>
          <a:prstGeom prst="rect">
            <a:avLst/>
          </a:prstGeom>
          <a:noFill/>
        </p:spPr>
        <p:txBody>
          <a:bodyPr wrap="square">
            <a:spAutoFit/>
          </a:bodyPr>
          <a:lstStyle/>
          <a:p>
            <a:pPr>
              <a:defRPr sz="3600" b="1">
                <a:solidFill>
                  <a:srgbClr val="38BDF8"/>
                </a:solidFill>
                <a:latin typeface="Arial"/>
              </a:defRPr>
            </a:pPr>
            <a:r>
              <a:rPr dirty="0" err="1"/>
              <a:t>Zaključak</a:t>
            </a:r>
            <a:endParaRPr dirty="0"/>
          </a:p>
        </p:txBody>
      </p:sp>
      <p:sp>
        <p:nvSpPr>
          <p:cNvPr id="4" name="TextBox 3"/>
          <p:cNvSpPr txBox="1"/>
          <p:nvPr/>
        </p:nvSpPr>
        <p:spPr>
          <a:xfrm>
            <a:off x="731520" y="1828800"/>
            <a:ext cx="10725912" cy="1846659"/>
          </a:xfrm>
          <a:prstGeom prst="rect">
            <a:avLst/>
          </a:prstGeom>
          <a:noFill/>
        </p:spPr>
        <p:txBody>
          <a:bodyPr wrap="square">
            <a:spAutoFit/>
          </a:bodyPr>
          <a:lstStyle/>
          <a:p>
            <a:pPr>
              <a:defRPr sz="2200" b="1">
                <a:solidFill>
                  <a:srgbClr val="38BDF8"/>
                </a:solidFill>
              </a:defRPr>
            </a:pPr>
            <a:r>
              <a:rPr dirty="0" err="1"/>
              <a:t>Tehnički</a:t>
            </a:r>
            <a:r>
              <a:rPr dirty="0"/>
              <a:t> </a:t>
            </a:r>
            <a:r>
              <a:rPr dirty="0" err="1"/>
              <a:t>zaključak</a:t>
            </a:r>
            <a:r>
              <a:rPr dirty="0"/>
              <a:t>:</a:t>
            </a:r>
          </a:p>
          <a:p>
            <a:pPr>
              <a:spcBef>
                <a:spcPts val="1200"/>
              </a:spcBef>
              <a:defRPr sz="1800">
                <a:solidFill>
                  <a:srgbClr val="F8FAFC"/>
                </a:solidFill>
              </a:defRPr>
            </a:pPr>
            <a:r>
              <a:rPr dirty="0"/>
              <a:t>• </a:t>
            </a:r>
            <a:r>
              <a:rPr dirty="0" err="1"/>
              <a:t>ZenBreath</a:t>
            </a:r>
            <a:r>
              <a:rPr dirty="0"/>
              <a:t> </a:t>
            </a:r>
            <a:r>
              <a:rPr dirty="0" err="1"/>
              <a:t>uspješno</a:t>
            </a:r>
            <a:r>
              <a:rPr dirty="0"/>
              <a:t> </a:t>
            </a:r>
            <a:r>
              <a:rPr dirty="0" err="1"/>
              <a:t>integrira</a:t>
            </a:r>
            <a:r>
              <a:rPr dirty="0"/>
              <a:t> </a:t>
            </a:r>
            <a:r>
              <a:rPr dirty="0" err="1"/>
              <a:t>napredne</a:t>
            </a:r>
            <a:r>
              <a:rPr dirty="0"/>
              <a:t> </a:t>
            </a:r>
            <a:r>
              <a:rPr dirty="0" err="1"/>
              <a:t>koncepte</a:t>
            </a:r>
            <a:r>
              <a:rPr dirty="0"/>
              <a:t> </a:t>
            </a:r>
            <a:r>
              <a:rPr dirty="0" err="1"/>
              <a:t>programiranja</a:t>
            </a:r>
            <a:r>
              <a:rPr dirty="0"/>
              <a:t> u </a:t>
            </a:r>
            <a:r>
              <a:rPr dirty="0" err="1"/>
              <a:t>realnom</a:t>
            </a:r>
            <a:r>
              <a:rPr dirty="0"/>
              <a:t> </a:t>
            </a:r>
            <a:r>
              <a:rPr dirty="0" err="1"/>
              <a:t>vremenu</a:t>
            </a:r>
            <a:r>
              <a:rPr dirty="0"/>
              <a:t> (</a:t>
            </a:r>
            <a:r>
              <a:rPr dirty="0" err="1"/>
              <a:t>FreeRTOS</a:t>
            </a:r>
            <a:r>
              <a:rPr dirty="0"/>
              <a:t>) s </a:t>
            </a:r>
            <a:r>
              <a:rPr dirty="0" err="1"/>
              <a:t>praktičnom</a:t>
            </a:r>
            <a:r>
              <a:rPr dirty="0"/>
              <a:t> </a:t>
            </a:r>
            <a:r>
              <a:rPr dirty="0" err="1"/>
              <a:t>medicinskom</a:t>
            </a:r>
            <a:r>
              <a:rPr dirty="0"/>
              <a:t> </a:t>
            </a:r>
            <a:r>
              <a:rPr dirty="0" err="1"/>
              <a:t>primjenom</a:t>
            </a:r>
            <a:r>
              <a:rPr dirty="0"/>
              <a:t>.</a:t>
            </a:r>
          </a:p>
          <a:p>
            <a:pPr>
              <a:spcBef>
                <a:spcPts val="1200"/>
              </a:spcBef>
              <a:defRPr sz="1800">
                <a:solidFill>
                  <a:srgbClr val="F8FAFC"/>
                </a:solidFill>
              </a:defRPr>
            </a:pPr>
            <a:r>
              <a:rPr dirty="0"/>
              <a:t>• </a:t>
            </a:r>
            <a:r>
              <a:rPr dirty="0" err="1"/>
              <a:t>Dokazano</a:t>
            </a:r>
            <a:r>
              <a:rPr dirty="0"/>
              <a:t> je da se </a:t>
            </a:r>
            <a:r>
              <a:rPr dirty="0" err="1"/>
              <a:t>primjenom</a:t>
            </a:r>
            <a:r>
              <a:rPr dirty="0"/>
              <a:t> </a:t>
            </a:r>
            <a:r>
              <a:rPr dirty="0" err="1"/>
              <a:t>ugradbenih</a:t>
            </a:r>
            <a:r>
              <a:rPr dirty="0"/>
              <a:t> </a:t>
            </a:r>
            <a:r>
              <a:rPr dirty="0" err="1"/>
              <a:t>tehnologija</a:t>
            </a:r>
            <a:r>
              <a:rPr dirty="0"/>
              <a:t> </a:t>
            </a:r>
            <a:r>
              <a:rPr dirty="0" err="1"/>
              <a:t>može</a:t>
            </a:r>
            <a:r>
              <a:rPr dirty="0"/>
              <a:t> </a:t>
            </a:r>
            <a:r>
              <a:rPr dirty="0" err="1"/>
              <a:t>postići</a:t>
            </a:r>
            <a:r>
              <a:rPr dirty="0"/>
              <a:t> </a:t>
            </a:r>
            <a:r>
              <a:rPr dirty="0" err="1"/>
              <a:t>visoka</a:t>
            </a:r>
            <a:r>
              <a:rPr dirty="0"/>
              <a:t> </a:t>
            </a:r>
            <a:r>
              <a:rPr dirty="0" err="1"/>
              <a:t>energetska</a:t>
            </a:r>
            <a:r>
              <a:rPr dirty="0"/>
              <a:t> </a:t>
            </a:r>
            <a:r>
              <a:rPr dirty="0" err="1"/>
              <a:t>učinkovitost</a:t>
            </a:r>
            <a:r>
              <a:rPr dirty="0"/>
              <a:t> </a:t>
            </a:r>
            <a:r>
              <a:rPr dirty="0" err="1"/>
              <a:t>uz</a:t>
            </a:r>
            <a:r>
              <a:rPr dirty="0"/>
              <a:t> </a:t>
            </a:r>
            <a:r>
              <a:rPr dirty="0" err="1"/>
              <a:t>istovremeno</a:t>
            </a:r>
            <a:r>
              <a:rPr dirty="0"/>
              <a:t> </a:t>
            </a:r>
            <a:r>
              <a:rPr dirty="0" err="1"/>
              <a:t>posluživanje</a:t>
            </a:r>
            <a:r>
              <a:rPr dirty="0"/>
              <a:t> web </a:t>
            </a:r>
            <a:r>
              <a:rPr dirty="0" err="1"/>
              <a:t>i</a:t>
            </a:r>
            <a:r>
              <a:rPr dirty="0"/>
              <a:t> </a:t>
            </a:r>
            <a:r>
              <a:rPr dirty="0" err="1"/>
              <a:t>grafičkih</a:t>
            </a:r>
            <a:r>
              <a:rPr dirty="0"/>
              <a:t> </a:t>
            </a:r>
            <a:r>
              <a:rPr dirty="0" err="1"/>
              <a:t>sučelja</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1406</Words>
  <Application>Microsoft Office PowerPoint</Application>
  <PresentationFormat>Custom</PresentationFormat>
  <Paragraphs>63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Marko</dc:creator>
  <cp:keywords/>
  <dc:description>generated using python-pptx</dc:description>
  <cp:lastModifiedBy>Marko Buhin</cp:lastModifiedBy>
  <cp:revision>3</cp:revision>
  <dcterms:created xsi:type="dcterms:W3CDTF">2013-01-27T09:14:16Z</dcterms:created>
  <dcterms:modified xsi:type="dcterms:W3CDTF">2026-06-08T00:35:33Z</dcterms:modified>
  <cp:category/>
</cp:coreProperties>
</file>